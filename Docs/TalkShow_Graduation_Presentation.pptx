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1 - Cover):</a:t>
            </a:r>
          </a:p>
          <a:p>
            <a:r>
              <a:t>بسم الله الرحمن الرحيم، أساتذتنا المشرفين وأعضاء لجنة التحكيم الموقرة، يسعدنا ويشرفنا تقديم مشروع تخرجنا: منصة توك شو (TalkShow).</a:t>
            </a:r>
          </a:p>
          <a:p>
            <a:r>
              <a:t>المنصة بتمثل نقلة نوعية في التجارة الإلكترونية وأنظمة إدارة الموارد (ERP)، حيث بنحول العمليات اليومية المعقدة لتجربة محادثة ذكية متصلة بقواعد البيانات بنظام متعدد الوكلاء (Multi-Agent System).</a:t>
            </a:r>
          </a:p>
          <a:p>
            <a:r>
              <a:t>فريق العمل مكون من 6 باحثين ومهندسين وزعنا التخصصات بدقة بين معمارية النظم، ووكلاء LangGraph، وتدريب نماذج تعلم الآلة، وحماية قواعد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2 - Executive Summary):</a:t>
            </a:r>
          </a:p>
          <a:p>
            <a:r>
              <a:t>الفكرة الجوهرية لمنصة توك شو هي القضاء على الفجوة الكبيرة بين تعقيد أنظمة الـ ERP التقليدية والتجار الحقيقيين.</a:t>
            </a:r>
          </a:p>
          <a:p>
            <a:r>
              <a:t>التاجر يطلب أمر باللغة الطبيعية والوكيل الذكي ينفذه بأمان تام بعد مراجعة هامش الربح وعرض بطاقة تفاعلية GenUI للموافقة.</a:t>
            </a:r>
          </a:p>
          <a:p>
            <a:r>
              <a:t>بنوفر 3 ركائز: تنفيذ آمن مع موافقة بشرية، فهم عميق للهجة المصرية وقوانين التجارة المحلية، ونماذج تعلم آلي استباقية تتنبأ بنفاد المخزون وتفصل العملاء لشرائح استهلاكية.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3 - Problem):</a:t>
            </a:r>
          </a:p>
          <a:p>
            <a:r>
              <a:t>لما حللنا واقع التجارة الإلكترونية والتجزئة في مصر والمنطقة العربية، اكتشفنا أزمتين حاسمتين توضحهما الرسوم البيانية:</a:t>
            </a:r>
          </a:p>
          <a:p>
            <a:r>
              <a:t>الرسم الأول: التاجر بيضيع 42% من يومه في إدخال ومطابقة البيانات يدوياً بين الإكسيل والواتساب، وفقط 12% للتطوير الاستراتيجي.</a:t>
            </a:r>
          </a:p>
          <a:p>
            <a:r>
              <a:t>الرسم الثاني: الشركات المصرية بتخسر 23.4% من مبيعاتها السنوية بسبب نفاد المخزون مقارنة بالمعدل العالمي (4.5%)، لأن البيانات محبوسة في جداول الـ ERP وما عندهمش أدوات استباقية.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4 - Deep Problem Analysis):</a:t>
            </a:r>
          </a:p>
          <a:p>
            <a:r>
              <a:t>هنا في قسم علوم البيانات كان لازم نسأل سؤال علمي حاسم: ليه ما نربطش ChatGPT بقاعدة البيانات وخلاص؟</a:t>
            </a:r>
          </a:p>
          <a:p>
            <a:r>
              <a:t>الرسم التوضيحي بيقارن بين الـ Naive LLM Wrapper ومعمارية توك شو:</a:t>
            </a:r>
          </a:p>
          <a:p>
            <a:r>
              <a:t>1- الهلوسة السعرية: لو الموديل وعد العميل بخصم غير موجود، التاجر بيتحمل مسؤولية قانونية بموجب قانون حماية المستهلك المصري.</a:t>
            </a:r>
          </a:p>
          <a:p>
            <a:r>
              <a:t>2- عمليات الكتابة المفتوحة: منح الذكاء الاصطناعي صلاحية تعديل مباشرة خطر جداً.</a:t>
            </a:r>
          </a:p>
          <a:p>
            <a:r>
              <a:t>3- الحل في توك شو: جدار حماية AST، محاكاة جافة Dry-Run، وعزل المستأجرين على مستوى نواة PostgreSQL RLS.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5 - Technical Challenges):</a:t>
            </a:r>
          </a:p>
          <a:p>
            <a:r>
              <a:t>واجهنا 4 تحديات هندسية وعلمية رئيسية:</a:t>
            </a:r>
          </a:p>
          <a:p>
            <a:r>
              <a:t>1- اللهجة العامية والفرانكو: حليناها بخوارزمية تنقية وتحويل لغوي تترجم الكلمات الدارجة لمفردات المخطط.</a:t>
            </a:r>
          </a:p>
          <a:p>
            <a:r>
              <a:t>2- عدم حتمية الـ LLMs: حليناها بجدار AST يرفض أي استعلام خاطئ أو غير مصرح به قبل وصوله للداتابيز.</a:t>
            </a:r>
          </a:p>
          <a:p>
            <a:r>
              <a:t>3- الأمان المتعدد للمستأجرين: وظفنا PostgreSQL Row-Level Security في نواة قاعدة البيانات نفسها.</a:t>
            </a:r>
          </a:p>
          <a:p>
            <a:r>
              <a:t>4- قيود العتاد: قمنا بعمل كمية وضغط لنموذج مفتوح المصدر ليعمل محلياً باستهلاك 2.2 جيجا رام فقط.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6 - Architectural Blueprint):</a:t>
            </a:r>
          </a:p>
          <a:p>
            <a:r>
              <a:t>المعمارية الشاملة لمنصة توك شو مقسمة لـ 5 طبقات متكاملة توضحها الشاشة:</a:t>
            </a:r>
          </a:p>
          <a:p>
            <a:r>
              <a:t>1- واجهة العرض: React 18 مع نظام Generative UI لبث بطاقات تفاعلية.</a:t>
            </a:r>
          </a:p>
          <a:p>
            <a:r>
              <a:t>2- بوابة الـ API: جدار حماية PromptGuard وتتبع Latency لكل استدعاء.</a:t>
            </a:r>
          </a:p>
          <a:p>
            <a:r>
              <a:t>3- محرك الوكلاء: LangGraph MasterCommandGraph يدير 10 مسارات وظيفية مع ذاكرة ثلاثية الأبعاد.</a:t>
            </a:r>
          </a:p>
          <a:p>
            <a:r>
              <a:t>4- خادم الـ MLOps: نماذج LightGBM للتنبؤ بالطلب وتجزئة العملاء.</a:t>
            </a:r>
          </a:p>
          <a:p>
            <a:r>
              <a:t>5- طبقة البيانات: PostgreSQL 16 RLS مع كاش Redis فائق السرعة.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7 - Agent Core &amp; HITL):</a:t>
            </a:r>
          </a:p>
          <a:p>
            <a:r>
              <a:t>الابتكار الأهم هنا هو بروتوكول الـ Human-in-the-Loop (HITL) الموضح في الرسم:</a:t>
            </a:r>
          </a:p>
          <a:p>
            <a:r>
              <a:t>الوكيل الذكي ممنوع تماماً من الكتابة المباشرة في قاعدة البيانات؛ لما التاجر يطلب مثلاً: 'طبق خصم 15% على كل السماعات'، الوكيل بينفذ محاكاة جافة (Dry-Run)، ويحسب التكلفة وهامش الربح لكل منتج.</a:t>
            </a:r>
          </a:p>
          <a:p>
            <a:r>
              <a:t>لو لقى إن الخصم هيبيع منتج بأقل من سعر التكلفة، بيحذر التاجر فوراً، ويصدر كارت GenUI تفاعلي فيه كل الفروق وزرار تأكيد. العملية مش بتتحفظ في الداتابيز إلا لما التاجر يضغط 'موافقة' بنفسه.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8 - AST Text-to-SQL):</a:t>
            </a:r>
          </a:p>
          <a:p>
            <a:r>
              <a:t>محرك استعلام قواعد البيانات باللغة الطبيعية (Text-to-SQL) بيعتمد على جدار حماية خماسي الطبقات موضح بالرسم:</a:t>
            </a:r>
          </a:p>
          <a:p>
            <a:r>
              <a:t>1- تطبيع اللهجة المصرية وفك الكلمات الدارجة.</a:t>
            </a:r>
          </a:p>
          <a:p>
            <a:r>
              <a:t>2- استخلاص الجداول المرتبطة فقط بالمتجه Schema Pruning لتوفير 70% من التوكنز.</a:t>
            </a:r>
          </a:p>
          <a:p>
            <a:r>
              <a:t>3- فحص شجرة الـ AST بمكتبة sqlglot ورفض أي أمر تعديل أو حذف.</a:t>
            </a:r>
          </a:p>
          <a:p>
            <a:r>
              <a:t>4- حظر الفواصل المنقوطة لمنع Piggybacking.</a:t>
            </a:r>
          </a:p>
          <a:p>
            <a:r>
              <a:t>5- فرض سقف 500 صف والتصحيح الذاتي في حالة الخطأ.</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9 - Machine Learning Engines):</a:t>
            </a:r>
          </a:p>
          <a:p>
            <a:r>
              <a:t>الجانب الإحصائي والتعلم الآلي في المشروع موضح بالأرقام والرسومات الفعلية:</a:t>
            </a:r>
          </a:p>
          <a:p>
            <a:r>
              <a:t>1- الرسم الأول (يسار): مخروط التنبؤ الاحتمالي بالطلب لمدة 30 يوم بنسبة ثقة 95% مع خط إعادة الطلب ROP.</a:t>
            </a:r>
          </a:p>
          <a:p>
            <a:r>
              <a:t>2- الرسم الأوسط: تحليل SHAP يوضح العوامل الحقيقية المؤثرة في الطلب مثل مواسم الأعياد وخصومات الأسعار.</a:t>
            </a:r>
          </a:p>
          <a:p>
            <a:r>
              <a:t>3- الرسم الثالث (يمين): تجميع العملاء Log-RFM K-Means لـ 5 شرائح استهلاكية لإطلاق حملات استبقاء العملاء المعرضين للانسحاب.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10 - Generative UI):</a:t>
            </a:r>
          </a:p>
          <a:p>
            <a:r>
              <a:t>الرسم التوضيحي بيوضح فلسفة الـ Generative UI في توك شو:</a:t>
            </a:r>
          </a:p>
          <a:p>
            <a:r>
              <a:t>بدل ما نرد على التاجر بفقرات نصية طويلة، الوكيل الذكي بيرسل Structured JSON بيترجم فوراً في واجهة React لبطاقات تفاعلية:</a:t>
            </a:r>
          </a:p>
          <a:p>
            <a:r>
              <a:t>التاجر بيشوف جدول مقارنة الأسعار وهامش الربح، وبيعمل الموافقة أو التعديل من داخل نفس الكارت بنقرة واحدة.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11 - Dialect NLP in Action):</a:t>
            </a:r>
          </a:p>
          <a:p>
            <a:r>
              <a:t>الرسم التوضيحي بالأسفل بيشرح خط سير معالجة الأوامر بالعامية المصرية:</a:t>
            </a:r>
          </a:p>
          <a:p>
            <a:r>
              <a:t>التاجر بيكتب بلغته الطبيعية، ومحرك الـ NLP بيحول الكلمات العامية لـ Tokens مقننة ومطابقة لمخطط قواعد البيانات، ثم فحص هامش الربح، وأخيراً التنفيذ الآمن في قاعدة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12 - Tech Stack):</a:t>
            </a:r>
          </a:p>
          <a:p>
            <a:r>
              <a:t>معمارية النظام مبنية بأحدث معايير هندسة البرمجيات وعلوم البيانات:</a:t>
            </a:r>
          </a:p>
          <a:p>
            <a:r>
              <a:t>الواجهة الأمامية تعتمد على React 18 وVite، والباك إند مبني بـ FastAPI وLangGraph مع جدار حماية AST، وخادم تعلم الآلة مدعوم بـ LightGBM وSHAP، وقاعدة البيانات PostgreSQL 16 RLS مع كاش Redis فائق السرعة.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13 - Offline GGUF Model):</a:t>
            </a:r>
          </a:p>
          <a:p>
            <a:r>
              <a:t>إنجاز تقني بارز في مشروع التخرج هو قدرتنا على تشغيل المنصة بالكامل Offline وبدون أي تكاليف سحابية:</a:t>
            </a:r>
          </a:p>
          <a:p>
            <a:r>
              <a:t>الرسومات البيانية على اليمين توضح:</a:t>
            </a:r>
          </a:p>
          <a:p>
            <a:r>
              <a:t>1- استهلاك الذاكرة العشوائية VRAM: فقط 2.18 جيجا على كارت شاشة اقتصادي RTX 3050 (أقل بكثير من سقف الـ 4 جيجا).</a:t>
            </a:r>
          </a:p>
          <a:p>
            <a:r>
              <a:t>2- سرعة التوليد: 38.4 توكن في الثانية، مما يوفر استجابة فورية للتاجر مع سرية كاملة لبياناته المالية.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14 - Evaluation &amp; Benchmarks):</a:t>
            </a:r>
          </a:p>
          <a:p>
            <a:r>
              <a:t>لإثبات الجدارة العلمية للمشروع، نفذنا تقييماً أكاديمياً صارماً على بنشمارك مكون من 100 برومبت معقد:</a:t>
            </a:r>
          </a:p>
          <a:p>
            <a:r>
              <a:t>الرسم على اليسار يوضح تفوق نموذج التنبؤ بنسبة خطأ WAPE 14.2% مقارنة بـ Prophet (28.6%) وARIMA (34.1%).</a:t>
            </a:r>
          </a:p>
          <a:p>
            <a:r>
              <a:t>والرسم على اليمين يبرز دقة تصنيف النوايا 98%، ودقة تنفيذ الـ SQL 92.4%، ونسبة حماية 100% ضد هجمات الـ Injection.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15 - Future Roadmap):</a:t>
            </a:r>
          </a:p>
          <a:p>
            <a:r>
              <a:t>الرسم البياني بالأسفل يوضح خريطة طريق تطوير المنصة بعد التخرج عبر 4 مراحل استراتيجية:</a:t>
            </a:r>
          </a:p>
          <a:p>
            <a:r>
              <a:t>المرحلة الأولى: الأساس المتين (اكتمل بالفعل).</a:t>
            </a:r>
          </a:p>
          <a:p>
            <a:r>
              <a:t>المرحلة الثانية: التكامل مع منظومة الفاتورة الإلكترونية لمصلحة الضرائب المصرية ومساعد صوتي باللهجة العامية.</a:t>
            </a:r>
          </a:p>
          <a:p>
            <a:r>
              <a:t>المرحلة الثالثة: وكلاء أذكياء لإدارة البث المباشر على تيك توك وإنستجرام.</a:t>
            </a:r>
          </a:p>
          <a:p>
            <a:r>
              <a:t>المرحلة الرابعة: التوسع الإقليمي وأنظمة التعلم الموحد.</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16 - Conclusion &amp; Outro):</a:t>
            </a:r>
          </a:p>
          <a:p>
            <a:r>
              <a:t>في الختام، مشروع توك شو (TalkShow) بيبرهن على إمكانية تطويع تقنيات الذكاء الاصطناعي التوليدي، ونماذج تعلم الآلة التنبؤية، لحل مشاكل تجارية حقيقية وملموسة في السوق المصري والمنطقة العربية بأعلى درجات الأمان والموثوقية.</a:t>
            </a:r>
          </a:p>
          <a:p>
            <a:r>
              <a:t>بنشكر أساتذتنا المشرفين في قسم علوم البيانات، ولجنة التحكيم الموقرة على وقتهم وملاحظاتهم القيمة.</a:t>
            </a:r>
          </a:p>
          <a:p>
            <a:r>
              <a:t>ودلوقتي بيسعدنا تلقي استفسارات وأسئلة حضراتكم وبندعوكم لبدء العرض الحي المباشر (Live Demo) على المنصة.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05840"/>
            <a:ext cx="694944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005840"/>
            <a:ext cx="694944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34440"/>
            <a:ext cx="6217920" cy="4663440"/>
          </a:xfrm>
          <a:prstGeom prst="rect">
            <a:avLst/>
          </a:prstGeom>
          <a:noFill/>
        </p:spPr>
        <p:txBody>
          <a:bodyPr wrap="square">
            <a:spAutoFit/>
          </a:bodyPr>
          <a:lstStyle/>
          <a:p>
            <a:pPr>
              <a:defRPr sz="1000" b="1">
                <a:solidFill>
                  <a:srgbClr val="0369A1"/>
                </a:solidFill>
                <a:latin typeface="Segoe UI"/>
              </a:defRPr>
            </a:pPr>
            <a:r>
              <a:t>● FACULTY OF COMPUTERS &amp; ARTIFICIAL INTELLIGENCE | GRADUATION PROJECT 2026</a:t>
            </a:r>
          </a:p>
          <a:p>
            <a:pPr>
              <a:spcBef>
                <a:spcPts val="800"/>
              </a:spcBef>
              <a:defRPr sz="4400" b="1">
                <a:solidFill>
                  <a:srgbClr val="0F172A"/>
                </a:solidFill>
                <a:latin typeface="Segoe UI"/>
              </a:defRPr>
            </a:pPr>
            <a:r>
              <a:t>TalkShow</a:t>
            </a:r>
          </a:p>
          <a:p>
            <a:pPr>
              <a:spcBef>
                <a:spcPts val="200"/>
              </a:spcBef>
              <a:defRPr sz="1700" b="1">
                <a:solidFill>
                  <a:srgbClr val="0284C7"/>
                </a:solidFill>
                <a:latin typeface="Segoe UI"/>
              </a:defRPr>
            </a:pPr>
            <a:r>
              <a:t>Autonomous Agentic E-Commerce Platform &amp; Conversational ERP</a:t>
            </a:r>
          </a:p>
          <a:p>
            <a:pPr>
              <a:spcBef>
                <a:spcPts val="1000"/>
              </a:spcBef>
              <a:defRPr sz="1100">
                <a:solidFill>
                  <a:srgbClr val="334155"/>
                </a:solidFill>
                <a:latin typeface="Segoe UI"/>
              </a:defRPr>
            </a:pPr>
            <a:r>
              <a:t>Transforming Egyptian &amp; MENA retail operations through LangGraph multi-agent orchestration, AST-sandboxed Text-to-SQL, quantile demand forecasting, and Human-in-the-Loop safety.</a:t>
            </a:r>
          </a:p>
          <a:p>
            <a:pPr>
              <a:spcBef>
                <a:spcPts val="800"/>
              </a:spcBef>
              <a:defRPr sz="900">
                <a:solidFill>
                  <a:srgbClr val="E2E8F0"/>
                </a:solidFill>
              </a:defRPr>
            </a:pPr>
            <a:r>
              <a:t>――――――――――――――――――――――――――――――――――――――――――――</a:t>
            </a:r>
          </a:p>
          <a:p>
            <a:pPr>
              <a:spcBef>
                <a:spcPts val="600"/>
              </a:spcBef>
              <a:defRPr sz="1100" b="1">
                <a:solidFill>
                  <a:srgbClr val="1E293B"/>
                </a:solidFill>
                <a:latin typeface="Segoe UI"/>
              </a:defRPr>
            </a:pPr>
            <a:r>
              <a:t>Engineering &amp; Data Science Team:</a:t>
            </a:r>
          </a:p>
          <a:p>
            <a:pPr>
              <a:spcBef>
                <a:spcPts val="200"/>
              </a:spcBef>
              <a:defRPr sz="1050" b="1">
                <a:solidFill>
                  <a:srgbClr val="0369A1"/>
                </a:solidFill>
                <a:latin typeface="Segoe UI"/>
              </a:defRPr>
            </a:pPr>
            <a:r>
              <a:t>مصطفى ماهر  •  عادل أحمد  •  عبد الله سامح  •  ريتاج حكيم  •  رناد حكيم  •  رُؤى أشرف</a:t>
            </a:r>
          </a:p>
          <a:p>
            <a:pPr>
              <a:spcBef>
                <a:spcPts val="600"/>
              </a:spcBef>
              <a:defRPr sz="1000">
                <a:solidFill>
                  <a:srgbClr val="64748B"/>
                </a:solidFill>
                <a:latin typeface="Segoe UI"/>
              </a:defRPr>
            </a:pPr>
            <a:r>
              <a:t>Supervised by: Prof. Dr. Ahmed El-Sayed &amp; Academic Committee</a:t>
            </a:r>
          </a:p>
        </p:txBody>
      </p:sp>
      <p:pic>
        <p:nvPicPr>
          <p:cNvPr id="7" name="Picture 6" descr="TransparentLogo.png"/>
          <p:cNvPicPr>
            <a:picLocks noChangeAspect="1"/>
          </p:cNvPicPr>
          <p:nvPr/>
        </p:nvPicPr>
        <p:blipFill>
          <a:blip r:embed="rId2"/>
          <a:stretch>
            <a:fillRect/>
          </a:stretch>
        </p:blipFill>
        <p:spPr>
          <a:xfrm>
            <a:off x="8046720" y="1645920"/>
            <a:ext cx="3474720" cy="19392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PLATFORM OVERVIEW &amp; THESIS</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Executive Summary: Paradigm Shift in E-Commerce &amp; ERP</a:t>
            </a:r>
          </a:p>
          <a:p>
            <a:pPr>
              <a:defRPr sz="1050">
                <a:solidFill>
                  <a:srgbClr val="64748B"/>
                </a:solidFill>
                <a:latin typeface="Segoe UI"/>
              </a:defRPr>
            </a:pPr>
            <a:r>
              <a:t>Why traditional enterprise software is obsolete and how TalkShow transforms business operations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2 of 16</a:t>
            </a:r>
          </a:p>
        </p:txBody>
      </p:sp>
      <p:sp>
        <p:nvSpPr>
          <p:cNvPr id="8" name="Rounded Rectangle 7"/>
          <p:cNvSpPr/>
          <p:nvPr/>
        </p:nvSpPr>
        <p:spPr>
          <a:xfrm>
            <a:off x="731520" y="1417320"/>
            <a:ext cx="3410712"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3410712"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00200"/>
            <a:ext cx="3044952" cy="32004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369A1"/>
                </a:solidFill>
                <a:latin typeface="Segoe UI"/>
              </a:defRPr>
            </a:pPr>
            <a:r>
              <a:t>AUTONOMOUS CONVERSATIONAL EXECUTION</a:t>
            </a:r>
          </a:p>
        </p:txBody>
      </p:sp>
      <p:sp>
        <p:nvSpPr>
          <p:cNvPr id="11" name="TextBox 10"/>
          <p:cNvSpPr txBox="1"/>
          <p:nvPr/>
        </p:nvSpPr>
        <p:spPr>
          <a:xfrm>
            <a:off x="914400" y="2011680"/>
            <a:ext cx="3044952" cy="2468880"/>
          </a:xfrm>
          <a:prstGeom prst="rect">
            <a:avLst/>
          </a:prstGeom>
          <a:noFill/>
        </p:spPr>
        <p:txBody>
          <a:bodyPr wrap="square">
            <a:spAutoFit/>
          </a:bodyPr>
          <a:lstStyle/>
          <a:p/>
          <a:p>
            <a:pPr>
              <a:spcBef>
                <a:spcPts val="600"/>
              </a:spcBef>
              <a:defRPr sz="1050" b="1">
                <a:solidFill>
                  <a:srgbClr val="1E293B"/>
                </a:solidFill>
                <a:latin typeface="Segoe UI"/>
              </a:defRPr>
            </a:pPr>
            <a:r>
              <a:t>✔ Replaces 50+ Admin Screens</a:t>
            </a:r>
          </a:p>
          <a:p>
            <a:pPr>
              <a:spcBef>
                <a:spcPts val="100"/>
              </a:spcBef>
              <a:defRPr sz="900">
                <a:solidFill>
                  <a:srgbClr val="334155"/>
                </a:solidFill>
                <a:latin typeface="Segoe UI"/>
              </a:defRPr>
            </a:pPr>
            <a:r>
              <a:t>Merchants execute operations via natural Egyptian dialogue.</a:t>
            </a:r>
          </a:p>
          <a:p>
            <a:pPr>
              <a:spcBef>
                <a:spcPts val="600"/>
              </a:spcBef>
              <a:defRPr sz="1050" b="1">
                <a:solidFill>
                  <a:srgbClr val="1E293B"/>
                </a:solidFill>
                <a:latin typeface="Segoe UI"/>
              </a:defRPr>
            </a:pPr>
            <a:r>
              <a:t>✔ Human-in-the-Loop (HITL)</a:t>
            </a:r>
          </a:p>
          <a:p>
            <a:pPr>
              <a:spcBef>
                <a:spcPts val="100"/>
              </a:spcBef>
              <a:defRPr sz="900">
                <a:solidFill>
                  <a:srgbClr val="334155"/>
                </a:solidFill>
                <a:latin typeface="Segoe UI"/>
              </a:defRPr>
            </a:pPr>
            <a:r>
              <a:t>Mutations run dry-run simulations before cryptographic commit.</a:t>
            </a:r>
          </a:p>
          <a:p>
            <a:pPr>
              <a:spcBef>
                <a:spcPts val="600"/>
              </a:spcBef>
              <a:defRPr sz="1050" b="1">
                <a:solidFill>
                  <a:srgbClr val="1E293B"/>
                </a:solidFill>
                <a:latin typeface="Segoe UI"/>
              </a:defRPr>
            </a:pPr>
            <a:r>
              <a:t>✔ Generative UI (GenUI)</a:t>
            </a:r>
          </a:p>
          <a:p>
            <a:pPr>
              <a:spcBef>
                <a:spcPts val="100"/>
              </a:spcBef>
              <a:defRPr sz="900">
                <a:solidFill>
                  <a:srgbClr val="334155"/>
                </a:solidFill>
                <a:latin typeface="Segoe UI"/>
              </a:defRPr>
            </a:pPr>
            <a:r>
              <a:t>Emits dynamic React cards (&lt;BulkPricePreviewCard /&gt;) instead of text.</a:t>
            </a:r>
          </a:p>
        </p:txBody>
      </p:sp>
      <p:sp>
        <p:nvSpPr>
          <p:cNvPr id="12" name="Rounded Rectangle 11"/>
          <p:cNvSpPr/>
          <p:nvPr/>
        </p:nvSpPr>
        <p:spPr>
          <a:xfrm>
            <a:off x="4389120" y="1417320"/>
            <a:ext cx="3410712"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17320"/>
            <a:ext cx="3410712"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0" y="1600200"/>
            <a:ext cx="3044952" cy="320040"/>
          </a:xfrm>
          <a:prstGeom prst="roundRect">
            <a:avLst/>
          </a:prstGeom>
          <a:solidFill>
            <a:srgbClr val="D1FAE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65F46"/>
                </a:solidFill>
                <a:latin typeface="Segoe UI"/>
              </a:defRPr>
            </a:pPr>
            <a:r>
              <a:t>GROUNDED DIALECTAL INTELLIGENCE</a:t>
            </a:r>
          </a:p>
        </p:txBody>
      </p:sp>
      <p:sp>
        <p:nvSpPr>
          <p:cNvPr id="15" name="TextBox 14"/>
          <p:cNvSpPr txBox="1"/>
          <p:nvPr/>
        </p:nvSpPr>
        <p:spPr>
          <a:xfrm>
            <a:off x="4572000" y="2011680"/>
            <a:ext cx="3044952" cy="2468880"/>
          </a:xfrm>
          <a:prstGeom prst="rect">
            <a:avLst/>
          </a:prstGeom>
          <a:noFill/>
        </p:spPr>
        <p:txBody>
          <a:bodyPr wrap="square">
            <a:spAutoFit/>
          </a:bodyPr>
          <a:lstStyle/>
          <a:p/>
          <a:p>
            <a:pPr>
              <a:spcBef>
                <a:spcPts val="600"/>
              </a:spcBef>
              <a:defRPr sz="1050" b="1">
                <a:solidFill>
                  <a:srgbClr val="1E293B"/>
                </a:solidFill>
                <a:latin typeface="Segoe UI"/>
              </a:defRPr>
            </a:pPr>
            <a:r>
              <a:t>✔ Egyptian Colloquial Arabic</a:t>
            </a:r>
          </a:p>
          <a:p>
            <a:pPr>
              <a:spcBef>
                <a:spcPts val="100"/>
              </a:spcBef>
              <a:defRPr sz="900">
                <a:solidFill>
                  <a:srgbClr val="334155"/>
                </a:solidFill>
                <a:latin typeface="Segoe UI"/>
              </a:defRPr>
            </a:pPr>
            <a:r>
              <a:t>Native parsing for retail slang ('السيلز', 'البرودكتس') and typos.</a:t>
            </a:r>
          </a:p>
          <a:p>
            <a:pPr>
              <a:spcBef>
                <a:spcPts val="600"/>
              </a:spcBef>
              <a:defRPr sz="1050" b="1">
                <a:solidFill>
                  <a:srgbClr val="1E293B"/>
                </a:solidFill>
                <a:latin typeface="Segoe UI"/>
              </a:defRPr>
            </a:pPr>
            <a:r>
              <a:t>✔ Zero Price Hallucination</a:t>
            </a:r>
          </a:p>
          <a:p>
            <a:pPr>
              <a:spcBef>
                <a:spcPts val="100"/>
              </a:spcBef>
              <a:defRPr sz="900">
                <a:solidFill>
                  <a:srgbClr val="334155"/>
                </a:solidFill>
                <a:latin typeface="Segoe UI"/>
              </a:defRPr>
            </a:pPr>
            <a:r>
              <a:t>Strict verification against live PostgreSQL database records.</a:t>
            </a:r>
          </a:p>
          <a:p>
            <a:pPr>
              <a:spcBef>
                <a:spcPts val="600"/>
              </a:spcBef>
              <a:defRPr sz="1050" b="1">
                <a:solidFill>
                  <a:srgbClr val="1E293B"/>
                </a:solidFill>
                <a:latin typeface="Segoe UI"/>
              </a:defRPr>
            </a:pPr>
            <a:r>
              <a:t>✔ Local Ecosystem Connectors</a:t>
            </a:r>
          </a:p>
          <a:p>
            <a:pPr>
              <a:spcBef>
                <a:spcPts val="100"/>
              </a:spcBef>
              <a:defRPr sz="900">
                <a:solidFill>
                  <a:srgbClr val="334155"/>
                </a:solidFill>
                <a:latin typeface="Segoe UI"/>
              </a:defRPr>
            </a:pPr>
            <a:r>
              <a:t>Built-in Paymob payment checkout and Bosta courier logistics.</a:t>
            </a:r>
          </a:p>
        </p:txBody>
      </p:sp>
      <p:sp>
        <p:nvSpPr>
          <p:cNvPr id="16" name="Rounded Rectangle 15"/>
          <p:cNvSpPr/>
          <p:nvPr/>
        </p:nvSpPr>
        <p:spPr>
          <a:xfrm>
            <a:off x="8046720" y="1417320"/>
            <a:ext cx="3410712"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20" y="1417320"/>
            <a:ext cx="3410712"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0" y="1600200"/>
            <a:ext cx="3044952" cy="320040"/>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B21B6"/>
                </a:solidFill>
                <a:latin typeface="Segoe UI"/>
              </a:defRPr>
            </a:pPr>
            <a:r>
              <a:t>PREDICTIVE MLOPS &amp; CONVERSATIONAL BI</a:t>
            </a:r>
          </a:p>
        </p:txBody>
      </p:sp>
      <p:sp>
        <p:nvSpPr>
          <p:cNvPr id="19" name="TextBox 18"/>
          <p:cNvSpPr txBox="1"/>
          <p:nvPr/>
        </p:nvSpPr>
        <p:spPr>
          <a:xfrm>
            <a:off x="8229600" y="2011680"/>
            <a:ext cx="3044952" cy="2468880"/>
          </a:xfrm>
          <a:prstGeom prst="rect">
            <a:avLst/>
          </a:prstGeom>
          <a:noFill/>
        </p:spPr>
        <p:txBody>
          <a:bodyPr wrap="square">
            <a:spAutoFit/>
          </a:bodyPr>
          <a:lstStyle/>
          <a:p/>
          <a:p>
            <a:pPr>
              <a:spcBef>
                <a:spcPts val="600"/>
              </a:spcBef>
              <a:defRPr sz="1050" b="1">
                <a:solidFill>
                  <a:srgbClr val="1E293B"/>
                </a:solidFill>
                <a:latin typeface="Segoe UI"/>
              </a:defRPr>
            </a:pPr>
            <a:r>
              <a:t>✔ Safe Text-to-SQL</a:t>
            </a:r>
          </a:p>
          <a:p>
            <a:pPr>
              <a:spcBef>
                <a:spcPts val="100"/>
              </a:spcBef>
              <a:defRPr sz="900">
                <a:solidFill>
                  <a:srgbClr val="334155"/>
                </a:solidFill>
                <a:latin typeface="Segoe UI"/>
              </a:defRPr>
            </a:pPr>
            <a:r>
              <a:t>Translates questions to AST-sandboxed SQL across 71+ tables.</a:t>
            </a:r>
          </a:p>
          <a:p>
            <a:pPr>
              <a:spcBef>
                <a:spcPts val="600"/>
              </a:spcBef>
              <a:defRPr sz="1050" b="1">
                <a:solidFill>
                  <a:srgbClr val="1E293B"/>
                </a:solidFill>
                <a:latin typeface="Segoe UI"/>
              </a:defRPr>
            </a:pPr>
            <a:r>
              <a:t>✔ Quantile Demand Forecasting</a:t>
            </a:r>
          </a:p>
          <a:p>
            <a:pPr>
              <a:spcBef>
                <a:spcPts val="100"/>
              </a:spcBef>
              <a:defRPr sz="900">
                <a:solidFill>
                  <a:srgbClr val="334155"/>
                </a:solidFill>
                <a:latin typeface="Segoe UI"/>
              </a:defRPr>
            </a:pPr>
            <a:r>
              <a:t>LightGBM models deliver 30-day forecast bands (95% CI).</a:t>
            </a:r>
          </a:p>
          <a:p>
            <a:pPr>
              <a:spcBef>
                <a:spcPts val="600"/>
              </a:spcBef>
              <a:defRPr sz="1050" b="1">
                <a:solidFill>
                  <a:srgbClr val="1E293B"/>
                </a:solidFill>
                <a:latin typeface="Segoe UI"/>
              </a:defRPr>
            </a:pPr>
            <a:r>
              <a:t>✔ Dynamic Stockout Prevention</a:t>
            </a:r>
          </a:p>
          <a:p>
            <a:pPr>
              <a:spcBef>
                <a:spcPts val="100"/>
              </a:spcBef>
              <a:defRPr sz="900">
                <a:solidFill>
                  <a:srgbClr val="334155"/>
                </a:solidFill>
                <a:latin typeface="Segoe UI"/>
              </a:defRPr>
            </a:pPr>
            <a:r>
              <a:t>Algorithmic safety stock and reorder points (ROP) calculation.</a:t>
            </a:r>
          </a:p>
        </p:txBody>
      </p:sp>
      <p:sp>
        <p:nvSpPr>
          <p:cNvPr id="20" name="Rounded Rectangle 19"/>
          <p:cNvSpPr/>
          <p:nvPr/>
        </p:nvSpPr>
        <p:spPr>
          <a:xfrm>
            <a:off x="731520" y="4800600"/>
            <a:ext cx="25603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800600"/>
            <a:ext cx="25603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892040"/>
            <a:ext cx="2286000" cy="1188720"/>
          </a:xfrm>
          <a:prstGeom prst="rect">
            <a:avLst/>
          </a:prstGeom>
          <a:noFill/>
        </p:spPr>
        <p:txBody>
          <a:bodyPr wrap="square">
            <a:spAutoFit/>
          </a:bodyPr>
          <a:lstStyle/>
          <a:p>
            <a:pPr algn="ctr">
              <a:defRPr sz="2400" b="1">
                <a:solidFill>
                  <a:srgbClr val="0369A1"/>
                </a:solidFill>
                <a:latin typeface="Segoe UI"/>
              </a:defRPr>
            </a:pPr>
            <a:r>
              <a:t>70%</a:t>
            </a:r>
          </a:p>
          <a:p>
            <a:pPr algn="ctr">
              <a:spcBef>
                <a:spcPts val="100"/>
              </a:spcBef>
              <a:defRPr sz="950" b="1">
                <a:solidFill>
                  <a:srgbClr val="1E293B"/>
                </a:solidFill>
                <a:latin typeface="Segoe UI"/>
              </a:defRPr>
            </a:pPr>
            <a:r>
              <a:t>Token Optimization</a:t>
            </a:r>
          </a:p>
          <a:p>
            <a:pPr algn="ctr">
              <a:defRPr sz="800">
                <a:solidFill>
                  <a:srgbClr val="64748B"/>
                </a:solidFill>
                <a:latin typeface="Segoe UI"/>
              </a:defRPr>
            </a:pPr>
            <a:r>
              <a:t>Dynamic vector schema pruner</a:t>
            </a:r>
          </a:p>
        </p:txBody>
      </p:sp>
      <p:sp>
        <p:nvSpPr>
          <p:cNvPr id="23" name="Rounded Rectangle 22"/>
          <p:cNvSpPr/>
          <p:nvPr/>
        </p:nvSpPr>
        <p:spPr>
          <a:xfrm>
            <a:off x="3456432" y="4800600"/>
            <a:ext cx="25603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56432" y="4800600"/>
            <a:ext cx="2560320"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3592" y="4892040"/>
            <a:ext cx="2286000" cy="1188720"/>
          </a:xfrm>
          <a:prstGeom prst="rect">
            <a:avLst/>
          </a:prstGeom>
          <a:noFill/>
        </p:spPr>
        <p:txBody>
          <a:bodyPr wrap="square">
            <a:spAutoFit/>
          </a:bodyPr>
          <a:lstStyle/>
          <a:p>
            <a:pPr algn="ctr">
              <a:defRPr sz="2400" b="1">
                <a:solidFill>
                  <a:srgbClr val="9F1239"/>
                </a:solidFill>
                <a:latin typeface="Segoe UI"/>
              </a:defRPr>
            </a:pPr>
            <a:r>
              <a:t>100%</a:t>
            </a:r>
          </a:p>
          <a:p>
            <a:pPr algn="ctr">
              <a:spcBef>
                <a:spcPts val="100"/>
              </a:spcBef>
              <a:defRPr sz="950" b="1">
                <a:solidFill>
                  <a:srgbClr val="1E293B"/>
                </a:solidFill>
                <a:latin typeface="Segoe UI"/>
              </a:defRPr>
            </a:pPr>
            <a:r>
              <a:t>Security Block Rate</a:t>
            </a:r>
          </a:p>
          <a:p>
            <a:pPr algn="ctr">
              <a:defRPr sz="800">
                <a:solidFill>
                  <a:srgbClr val="64748B"/>
                </a:solidFill>
                <a:latin typeface="Segoe UI"/>
              </a:defRPr>
            </a:pPr>
            <a:r>
              <a:t>sqlglot AST sandbox defense</a:t>
            </a:r>
          </a:p>
        </p:txBody>
      </p:sp>
      <p:sp>
        <p:nvSpPr>
          <p:cNvPr id="26" name="Rounded Rectangle 25"/>
          <p:cNvSpPr/>
          <p:nvPr/>
        </p:nvSpPr>
        <p:spPr>
          <a:xfrm>
            <a:off x="6181344" y="4800600"/>
            <a:ext cx="25603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81344" y="4800600"/>
            <a:ext cx="256032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8504" y="4892040"/>
            <a:ext cx="2286000" cy="1188720"/>
          </a:xfrm>
          <a:prstGeom prst="rect">
            <a:avLst/>
          </a:prstGeom>
          <a:noFill/>
        </p:spPr>
        <p:txBody>
          <a:bodyPr wrap="square">
            <a:spAutoFit/>
          </a:bodyPr>
          <a:lstStyle/>
          <a:p>
            <a:pPr algn="ctr">
              <a:defRPr sz="2400" b="1">
                <a:solidFill>
                  <a:srgbClr val="065F46"/>
                </a:solidFill>
                <a:latin typeface="Segoe UI"/>
              </a:defRPr>
            </a:pPr>
            <a:r>
              <a:t>14.2%</a:t>
            </a:r>
          </a:p>
          <a:p>
            <a:pPr algn="ctr">
              <a:spcBef>
                <a:spcPts val="100"/>
              </a:spcBef>
              <a:defRPr sz="950" b="1">
                <a:solidFill>
                  <a:srgbClr val="1E293B"/>
                </a:solidFill>
                <a:latin typeface="Segoe UI"/>
              </a:defRPr>
            </a:pPr>
            <a:r>
              <a:t>WAPE Forecast Error</a:t>
            </a:r>
          </a:p>
          <a:p>
            <a:pPr algn="ctr">
              <a:defRPr sz="800">
                <a:solidFill>
                  <a:srgbClr val="64748B"/>
                </a:solidFill>
                <a:latin typeface="Segoe UI"/>
              </a:defRPr>
            </a:pPr>
            <a:r>
              <a:t>Beats Prophet (28.6%) &amp; ARIMA</a:t>
            </a:r>
          </a:p>
        </p:txBody>
      </p:sp>
      <p:sp>
        <p:nvSpPr>
          <p:cNvPr id="29" name="Rounded Rectangle 28"/>
          <p:cNvSpPr/>
          <p:nvPr/>
        </p:nvSpPr>
        <p:spPr>
          <a:xfrm>
            <a:off x="8906256" y="4800600"/>
            <a:ext cx="25603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06256" y="4800600"/>
            <a:ext cx="256032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43416" y="4892040"/>
            <a:ext cx="2286000" cy="1188720"/>
          </a:xfrm>
          <a:prstGeom prst="rect">
            <a:avLst/>
          </a:prstGeom>
          <a:noFill/>
        </p:spPr>
        <p:txBody>
          <a:bodyPr wrap="square">
            <a:spAutoFit/>
          </a:bodyPr>
          <a:lstStyle/>
          <a:p>
            <a:pPr algn="ctr">
              <a:defRPr sz="2400" b="1">
                <a:solidFill>
                  <a:srgbClr val="5B21B6"/>
                </a:solidFill>
                <a:latin typeface="Segoe UI"/>
              </a:defRPr>
            </a:pPr>
            <a:r>
              <a:t>2.18 GB</a:t>
            </a:r>
          </a:p>
          <a:p>
            <a:pPr algn="ctr">
              <a:spcBef>
                <a:spcPts val="100"/>
              </a:spcBef>
              <a:defRPr sz="950" b="1">
                <a:solidFill>
                  <a:srgbClr val="1E293B"/>
                </a:solidFill>
                <a:latin typeface="Segoe UI"/>
              </a:defRPr>
            </a:pPr>
            <a:r>
              <a:t>Edge VRAM Footprint</a:t>
            </a:r>
          </a:p>
          <a:p>
            <a:pPr algn="ctr">
              <a:defRPr sz="800">
                <a:solidFill>
                  <a:srgbClr val="64748B"/>
                </a:solidFill>
                <a:latin typeface="Segoe UI"/>
              </a:defRPr>
            </a:pPr>
            <a:r>
              <a:t>Runs air-gapped on RTX 3050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FFE4E6"/>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9F1239"/>
                </a:solidFill>
                <a:latin typeface="Segoe UI"/>
              </a:defRPr>
            </a:pPr>
            <a:r>
              <a:t>●  1. PROBLEM IDENTIFICATION</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1: The Core Industry Problem &amp; Market Realities</a:t>
            </a:r>
          </a:p>
          <a:p>
            <a:pPr>
              <a:defRPr sz="1050">
                <a:solidFill>
                  <a:srgbClr val="64748B"/>
                </a:solidFill>
                <a:latin typeface="Segoe UI"/>
              </a:defRPr>
            </a:pPr>
            <a:r>
              <a:t>Operational fragmentation, data silos, and the retail crisis in Egyptian &amp; MENA SMEs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3 of 16</a:t>
            </a:r>
          </a:p>
        </p:txBody>
      </p:sp>
      <p:sp>
        <p:nvSpPr>
          <p:cNvPr id="8" name="Rounded Rectangle 7"/>
          <p:cNvSpPr/>
          <p:nvPr/>
        </p:nvSpPr>
        <p:spPr>
          <a:xfrm>
            <a:off x="731520" y="1417320"/>
            <a:ext cx="4114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4114800"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3749039" cy="2011680"/>
          </a:xfrm>
          <a:prstGeom prst="rect">
            <a:avLst/>
          </a:prstGeom>
          <a:noFill/>
        </p:spPr>
        <p:txBody>
          <a:bodyPr wrap="square">
            <a:spAutoFit/>
          </a:bodyPr>
          <a:lstStyle/>
          <a:p>
            <a:pPr>
              <a:defRPr sz="1300" b="1">
                <a:solidFill>
                  <a:srgbClr val="9F1239"/>
                </a:solidFill>
                <a:latin typeface="Segoe UI"/>
              </a:defRPr>
            </a:pPr>
            <a:r>
              <a:t>1. Operational Fragmentation</a:t>
            </a:r>
          </a:p>
          <a:p>
            <a:pPr>
              <a:spcBef>
                <a:spcPts val="400"/>
              </a:spcBef>
              <a:defRPr sz="950">
                <a:solidFill>
                  <a:srgbClr val="334155"/>
                </a:solidFill>
                <a:latin typeface="Segoe UI"/>
              </a:defRPr>
            </a:pPr>
            <a:r>
              <a:t>• Merchants juggle 5+ tools: Excel sheets, POS, and WhatsApp.</a:t>
            </a:r>
          </a:p>
          <a:p>
            <a:pPr>
              <a:spcBef>
                <a:spcPts val="400"/>
              </a:spcBef>
              <a:defRPr sz="950">
                <a:solidFill>
                  <a:srgbClr val="334155"/>
                </a:solidFill>
                <a:latin typeface="Segoe UI"/>
              </a:defRPr>
            </a:pPr>
            <a:r>
              <a:t>• 42% of daily workday wasted on manual data entry.</a:t>
            </a:r>
          </a:p>
          <a:p>
            <a:pPr>
              <a:spcBef>
                <a:spcPts val="400"/>
              </a:spcBef>
              <a:defRPr sz="950">
                <a:solidFill>
                  <a:srgbClr val="334155"/>
                </a:solidFill>
                <a:latin typeface="Segoe UI"/>
              </a:defRPr>
            </a:pPr>
            <a:r>
              <a:t>• Frequent inventory overselling due to manual lag.</a:t>
            </a:r>
          </a:p>
        </p:txBody>
      </p:sp>
      <p:sp>
        <p:nvSpPr>
          <p:cNvPr id="11" name="Rounded Rectangle 10"/>
          <p:cNvSpPr/>
          <p:nvPr/>
        </p:nvSpPr>
        <p:spPr>
          <a:xfrm>
            <a:off x="731520" y="3840480"/>
            <a:ext cx="4114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840480"/>
            <a:ext cx="411480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39"/>
            <a:ext cx="3749039" cy="2011680"/>
          </a:xfrm>
          <a:prstGeom prst="rect">
            <a:avLst/>
          </a:prstGeom>
          <a:noFill/>
        </p:spPr>
        <p:txBody>
          <a:bodyPr wrap="square">
            <a:spAutoFit/>
          </a:bodyPr>
          <a:lstStyle/>
          <a:p>
            <a:pPr>
              <a:defRPr sz="1300" b="1">
                <a:solidFill>
                  <a:srgbClr val="92400E"/>
                </a:solidFill>
                <a:latin typeface="Segoe UI"/>
              </a:defRPr>
            </a:pPr>
            <a:r>
              <a:t>2. Relational BI Blindspot &amp; Stockout</a:t>
            </a:r>
          </a:p>
          <a:p>
            <a:pPr>
              <a:spcBef>
                <a:spcPts val="400"/>
              </a:spcBef>
              <a:defRPr sz="950">
                <a:solidFill>
                  <a:srgbClr val="334155"/>
                </a:solidFill>
                <a:latin typeface="Segoe UI"/>
              </a:defRPr>
            </a:pPr>
            <a:r>
              <a:t>• Data trapped in 71+ tables inaccessible to business merchants.</a:t>
            </a:r>
          </a:p>
          <a:p>
            <a:pPr>
              <a:spcBef>
                <a:spcPts val="400"/>
              </a:spcBef>
              <a:defRPr sz="950">
                <a:solidFill>
                  <a:srgbClr val="334155"/>
                </a:solidFill>
                <a:latin typeface="Segoe UI"/>
              </a:defRPr>
            </a:pPr>
            <a:r>
              <a:t>• 23.4% annual revenue lost to stockouts in Egyptian SMEs.</a:t>
            </a:r>
          </a:p>
          <a:p>
            <a:pPr>
              <a:spcBef>
                <a:spcPts val="400"/>
              </a:spcBef>
              <a:defRPr sz="950">
                <a:solidFill>
                  <a:srgbClr val="334155"/>
                </a:solidFill>
                <a:latin typeface="Segoe UI"/>
              </a:defRPr>
            </a:pPr>
            <a:r>
              <a:t>• Zero proactive warning before inventory depletes below safety stock.</a:t>
            </a:r>
          </a:p>
        </p:txBody>
      </p:sp>
      <p:sp>
        <p:nvSpPr>
          <p:cNvPr id="14" name="Rounded Rectangle 13"/>
          <p:cNvSpPr/>
          <p:nvPr/>
        </p:nvSpPr>
        <p:spPr>
          <a:xfrm>
            <a:off x="5029200" y="1417320"/>
            <a:ext cx="643097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hart_problem_time_loss.png"/>
          <p:cNvPicPr>
            <a:picLocks noChangeAspect="1"/>
          </p:cNvPicPr>
          <p:nvPr/>
        </p:nvPicPr>
        <p:blipFill>
          <a:blip r:embed="rId3"/>
          <a:stretch>
            <a:fillRect/>
          </a:stretch>
        </p:blipFill>
        <p:spPr>
          <a:xfrm>
            <a:off x="5120640" y="1554480"/>
            <a:ext cx="6248095" cy="2613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FFE4E6"/>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9F1239"/>
                </a:solidFill>
                <a:latin typeface="Segoe UI"/>
              </a:defRPr>
            </a:pPr>
            <a:r>
              <a:t>●  1. DEEP PROBLEM ANALYSIS</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Problem Deep Dive: Why Generic LLMs Fail in Enterprise Operations</a:t>
            </a:r>
          </a:p>
          <a:p>
            <a:pPr>
              <a:defRPr sz="1050">
                <a:solidFill>
                  <a:srgbClr val="64748B"/>
                </a:solidFill>
                <a:latin typeface="Segoe UI"/>
              </a:defRPr>
            </a:pPr>
            <a:r>
              <a:t>The fatal flaws of naive LLM wrappers in mission-critical database &amp; e-commerce systems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4 of 16</a:t>
            </a:r>
          </a:p>
        </p:txBody>
      </p:sp>
      <p:sp>
        <p:nvSpPr>
          <p:cNvPr id="8" name="Rounded Rectangle 7"/>
          <p:cNvSpPr/>
          <p:nvPr/>
        </p:nvSpPr>
        <p:spPr>
          <a:xfrm>
            <a:off x="731520"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3456432"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3182112" cy="685800"/>
          </a:xfrm>
          <a:prstGeom prst="rect">
            <a:avLst/>
          </a:prstGeom>
          <a:noFill/>
        </p:spPr>
        <p:txBody>
          <a:bodyPr wrap="square">
            <a:spAutoFit/>
          </a:bodyPr>
          <a:lstStyle/>
          <a:p>
            <a:pPr>
              <a:defRPr sz="1100" b="1">
                <a:solidFill>
                  <a:srgbClr val="9F1239"/>
                </a:solidFill>
                <a:latin typeface="Segoe UI"/>
              </a:defRPr>
            </a:pPr>
            <a:r>
              <a:t>⚠ Hallucination Liability</a:t>
            </a:r>
          </a:p>
          <a:p>
            <a:pPr>
              <a:spcBef>
                <a:spcPts val="200"/>
              </a:spcBef>
              <a:defRPr sz="850">
                <a:solidFill>
                  <a:srgbClr val="334155"/>
                </a:solidFill>
                <a:latin typeface="Segoe UI"/>
              </a:defRPr>
            </a:pPr>
            <a:r>
              <a:t>Prices must comply with Egyptian Consumer Protection Law 181/2018.</a:t>
            </a:r>
          </a:p>
        </p:txBody>
      </p:sp>
      <p:sp>
        <p:nvSpPr>
          <p:cNvPr id="11" name="Rounded Rectangle 10"/>
          <p:cNvSpPr/>
          <p:nvPr/>
        </p:nvSpPr>
        <p:spPr>
          <a:xfrm>
            <a:off x="4370832"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417320"/>
            <a:ext cx="3456432"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08760"/>
            <a:ext cx="3182112" cy="685800"/>
          </a:xfrm>
          <a:prstGeom prst="rect">
            <a:avLst/>
          </a:prstGeom>
          <a:noFill/>
        </p:spPr>
        <p:txBody>
          <a:bodyPr wrap="square">
            <a:spAutoFit/>
          </a:bodyPr>
          <a:lstStyle/>
          <a:p>
            <a:pPr>
              <a:defRPr sz="1100" b="1">
                <a:solidFill>
                  <a:srgbClr val="92400E"/>
                </a:solidFill>
                <a:latin typeface="Segoe UI"/>
              </a:defRPr>
            </a:pPr>
            <a:r>
              <a:t>⚠ Unbounded SQL Mutations</a:t>
            </a:r>
          </a:p>
          <a:p>
            <a:pPr>
              <a:spcBef>
                <a:spcPts val="200"/>
              </a:spcBef>
              <a:defRPr sz="850">
                <a:solidFill>
                  <a:srgbClr val="334155"/>
                </a:solidFill>
                <a:latin typeface="Segoe UI"/>
              </a:defRPr>
            </a:pPr>
            <a:r>
              <a:t>Direct write access (`UPDATE`/`DELETE`) can corrupt catalogs.</a:t>
            </a:r>
          </a:p>
        </p:txBody>
      </p:sp>
      <p:sp>
        <p:nvSpPr>
          <p:cNvPr id="14" name="Rounded Rectangle 13"/>
          <p:cNvSpPr/>
          <p:nvPr/>
        </p:nvSpPr>
        <p:spPr>
          <a:xfrm>
            <a:off x="8010144"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10144" y="1417320"/>
            <a:ext cx="3456432"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1508760"/>
            <a:ext cx="3182112" cy="685800"/>
          </a:xfrm>
          <a:prstGeom prst="rect">
            <a:avLst/>
          </a:prstGeom>
          <a:noFill/>
        </p:spPr>
        <p:txBody>
          <a:bodyPr wrap="square">
            <a:spAutoFit/>
          </a:bodyPr>
          <a:lstStyle/>
          <a:p>
            <a:pPr>
              <a:defRPr sz="1100" b="1">
                <a:solidFill>
                  <a:srgbClr val="5B21B6"/>
                </a:solidFill>
                <a:latin typeface="Segoe UI"/>
              </a:defRPr>
            </a:pPr>
            <a:r>
              <a:t>⚠ Multi-Tenant Data Spillage</a:t>
            </a:r>
          </a:p>
          <a:p>
            <a:pPr>
              <a:spcBef>
                <a:spcPts val="200"/>
              </a:spcBef>
              <a:defRPr sz="850">
                <a:solidFill>
                  <a:srgbClr val="334155"/>
                </a:solidFill>
                <a:latin typeface="Segoe UI"/>
              </a:defRPr>
            </a:pPr>
            <a:r>
              <a:t>Flawed prompts leak competitor data in shared database tables.</a:t>
            </a:r>
          </a:p>
        </p:txBody>
      </p:sp>
      <p:sp>
        <p:nvSpPr>
          <p:cNvPr id="17" name="Rounded Rectangle 16"/>
          <p:cNvSpPr/>
          <p:nvPr/>
        </p:nvSpPr>
        <p:spPr>
          <a:xfrm>
            <a:off x="731520" y="2377440"/>
            <a:ext cx="10728655"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agram_generic_vs_talkshow.png"/>
          <p:cNvPicPr>
            <a:picLocks noChangeAspect="1"/>
          </p:cNvPicPr>
          <p:nvPr/>
        </p:nvPicPr>
        <p:blipFill>
          <a:blip r:embed="rId3"/>
          <a:stretch>
            <a:fillRect/>
          </a:stretch>
        </p:blipFill>
        <p:spPr>
          <a:xfrm>
            <a:off x="914400" y="2468880"/>
            <a:ext cx="10362895" cy="40869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92400E"/>
                </a:solidFill>
                <a:latin typeface="Segoe UI"/>
              </a:defRPr>
            </a:pPr>
            <a:r>
              <a:t>●  2. TECHNICAL CHALLENGES</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2: Engineering &amp; Data Science Challenges</a:t>
            </a:r>
          </a:p>
          <a:p>
            <a:pPr>
              <a:defRPr sz="1050">
                <a:solidFill>
                  <a:srgbClr val="64748B"/>
                </a:solidFill>
                <a:latin typeface="Segoe UI"/>
              </a:defRPr>
            </a:pPr>
            <a:r>
              <a:t>Overcoming relational complexity, non-deterministic reasoning, and multi-tenant security barriers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5 of 16</a:t>
            </a:r>
          </a:p>
        </p:txBody>
      </p:sp>
      <p:sp>
        <p:nvSpPr>
          <p:cNvPr id="8" name="Rounded Rectangle 7"/>
          <p:cNvSpPr/>
          <p:nvPr/>
        </p:nvSpPr>
        <p:spPr>
          <a:xfrm>
            <a:off x="731520" y="1417320"/>
            <a:ext cx="52422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5242255"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00200"/>
            <a:ext cx="4876495" cy="32004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369A1"/>
                </a:solidFill>
                <a:latin typeface="Segoe UI"/>
              </a:defRPr>
            </a:pPr>
            <a:r>
              <a:t>CHALLENGE: DIALECTAL NLP &amp; AMBIGUITY</a:t>
            </a:r>
          </a:p>
        </p:txBody>
      </p:sp>
      <p:sp>
        <p:nvSpPr>
          <p:cNvPr id="11" name="TextBox 10"/>
          <p:cNvSpPr txBox="1"/>
          <p:nvPr/>
        </p:nvSpPr>
        <p:spPr>
          <a:xfrm>
            <a:off x="914400" y="2011680"/>
            <a:ext cx="4876495" cy="1645920"/>
          </a:xfrm>
          <a:prstGeom prst="rect">
            <a:avLst/>
          </a:prstGeom>
          <a:noFill/>
        </p:spPr>
        <p:txBody>
          <a:bodyPr wrap="square">
            <a:spAutoFit/>
          </a:bodyPr>
          <a:lstStyle/>
          <a:p>
            <a:pPr>
              <a:defRPr sz="950">
                <a:solidFill>
                  <a:srgbClr val="334155"/>
                </a:solidFill>
                <a:latin typeface="Segoe UI"/>
              </a:defRPr>
            </a:pPr>
            <a:r>
              <a:t>Issue: Egyptian Arabic contains typos, local retail jargon ('السيلز', 'الأوردرات'), and missing diacritics.</a:t>
            </a:r>
          </a:p>
          <a:p>
            <a:pPr>
              <a:spcBef>
                <a:spcPts val="600"/>
              </a:spcBef>
              <a:defRPr sz="950" b="1">
                <a:solidFill>
                  <a:srgbClr val="1E293B"/>
                </a:solidFill>
                <a:latin typeface="Segoe UI"/>
              </a:defRPr>
            </a:pPr>
            <a:r>
              <a:t>✔ Solution: Multi-stage normalization and custom entity mapping pipeline before schema matching.</a:t>
            </a:r>
          </a:p>
        </p:txBody>
      </p:sp>
      <p:sp>
        <p:nvSpPr>
          <p:cNvPr id="12" name="Rounded Rectangle 11"/>
          <p:cNvSpPr/>
          <p:nvPr/>
        </p:nvSpPr>
        <p:spPr>
          <a:xfrm>
            <a:off x="6217920" y="1417320"/>
            <a:ext cx="52422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242255"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1600200"/>
            <a:ext cx="4876495" cy="320040"/>
          </a:xfrm>
          <a:prstGeom prst="roundRect">
            <a:avLst/>
          </a:prstGeom>
          <a:solidFill>
            <a:srgbClr val="FFE4E6"/>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9F1239"/>
                </a:solidFill>
                <a:latin typeface="Segoe UI"/>
              </a:defRPr>
            </a:pPr>
            <a:r>
              <a:t>CHALLENGE: NON-DETERMINISTIC LLM TO STRICT SQL</a:t>
            </a:r>
          </a:p>
        </p:txBody>
      </p:sp>
      <p:sp>
        <p:nvSpPr>
          <p:cNvPr id="15" name="TextBox 14"/>
          <p:cNvSpPr txBox="1"/>
          <p:nvPr/>
        </p:nvSpPr>
        <p:spPr>
          <a:xfrm>
            <a:off x="6400800" y="2011680"/>
            <a:ext cx="4876495" cy="1645920"/>
          </a:xfrm>
          <a:prstGeom prst="rect">
            <a:avLst/>
          </a:prstGeom>
          <a:noFill/>
        </p:spPr>
        <p:txBody>
          <a:bodyPr wrap="square">
            <a:spAutoFit/>
          </a:bodyPr>
          <a:lstStyle/>
          <a:p>
            <a:pPr>
              <a:defRPr sz="950">
                <a:solidFill>
                  <a:srgbClr val="334155"/>
                </a:solidFill>
                <a:latin typeface="Segoe UI"/>
              </a:defRPr>
            </a:pPr>
            <a:r>
              <a:t>Issue: LLMs can produce invalid joins, non-existent column names, or catastrophic data deletion statements.</a:t>
            </a:r>
          </a:p>
          <a:p>
            <a:pPr>
              <a:spcBef>
                <a:spcPts val="600"/>
              </a:spcBef>
              <a:defRPr sz="950" b="1">
                <a:solidFill>
                  <a:srgbClr val="1E293B"/>
                </a:solidFill>
                <a:latin typeface="Segoe UI"/>
              </a:defRPr>
            </a:pPr>
            <a:r>
              <a:t>✔ Solution: Abstract Syntax Tree (AST) validation via `sqlglot` strictly enforcing read-only execution.</a:t>
            </a:r>
          </a:p>
        </p:txBody>
      </p:sp>
      <p:sp>
        <p:nvSpPr>
          <p:cNvPr id="16" name="Rounded Rectangle 15"/>
          <p:cNvSpPr/>
          <p:nvPr/>
        </p:nvSpPr>
        <p:spPr>
          <a:xfrm>
            <a:off x="731520" y="3840480"/>
            <a:ext cx="52422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840480"/>
            <a:ext cx="5242255"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4023360"/>
            <a:ext cx="4876495" cy="320040"/>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B21B6"/>
                </a:solidFill>
                <a:latin typeface="Segoe UI"/>
              </a:defRPr>
            </a:pPr>
            <a:r>
              <a:t>CHALLENGE: MULTI-TENANT KERNEL ISOLATION</a:t>
            </a:r>
          </a:p>
        </p:txBody>
      </p:sp>
      <p:sp>
        <p:nvSpPr>
          <p:cNvPr id="19" name="TextBox 18"/>
          <p:cNvSpPr txBox="1"/>
          <p:nvPr/>
        </p:nvSpPr>
        <p:spPr>
          <a:xfrm>
            <a:off x="914400" y="4434840"/>
            <a:ext cx="4876495" cy="1645920"/>
          </a:xfrm>
          <a:prstGeom prst="rect">
            <a:avLst/>
          </a:prstGeom>
          <a:noFill/>
        </p:spPr>
        <p:txBody>
          <a:bodyPr wrap="square">
            <a:spAutoFit/>
          </a:bodyPr>
          <a:lstStyle/>
          <a:p>
            <a:pPr>
              <a:defRPr sz="950">
                <a:solidFill>
                  <a:srgbClr val="334155"/>
                </a:solidFill>
                <a:latin typeface="Segoe UI"/>
              </a:defRPr>
            </a:pPr>
            <a:r>
              <a:t>Issue: Application-level `WHERE tenant_id = x` filtering is prone to human omissions and prompt leaks.</a:t>
            </a:r>
          </a:p>
          <a:p>
            <a:pPr>
              <a:spcBef>
                <a:spcPts val="600"/>
              </a:spcBef>
              <a:defRPr sz="950" b="1">
                <a:solidFill>
                  <a:srgbClr val="1E293B"/>
                </a:solidFill>
                <a:latin typeface="Segoe UI"/>
              </a:defRPr>
            </a:pPr>
            <a:r>
              <a:t>✔ Solution: PostgreSQL 16 Row-Level Security (`app.current_tenant_id`) enforced at the database kernel.</a:t>
            </a:r>
          </a:p>
        </p:txBody>
      </p:sp>
      <p:sp>
        <p:nvSpPr>
          <p:cNvPr id="20" name="Rounded Rectangle 19"/>
          <p:cNvSpPr/>
          <p:nvPr/>
        </p:nvSpPr>
        <p:spPr>
          <a:xfrm>
            <a:off x="6217920" y="3840480"/>
            <a:ext cx="52422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3840480"/>
            <a:ext cx="5242255"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0" y="4023360"/>
            <a:ext cx="4876495" cy="320040"/>
          </a:xfrm>
          <a:prstGeom prst="roundRect">
            <a:avLst/>
          </a:prstGeom>
          <a:solidFill>
            <a:srgbClr val="D1FAE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65F46"/>
                </a:solidFill>
                <a:latin typeface="Segoe UI"/>
              </a:defRPr>
            </a:pPr>
            <a:r>
              <a:t>CHALLENGE: EDGE HARDWARE CONSTRAINTS (4GB VRAM)</a:t>
            </a:r>
          </a:p>
        </p:txBody>
      </p:sp>
      <p:sp>
        <p:nvSpPr>
          <p:cNvPr id="23" name="TextBox 22"/>
          <p:cNvSpPr txBox="1"/>
          <p:nvPr/>
        </p:nvSpPr>
        <p:spPr>
          <a:xfrm>
            <a:off x="6400800" y="4434840"/>
            <a:ext cx="4876495" cy="1645920"/>
          </a:xfrm>
          <a:prstGeom prst="rect">
            <a:avLst/>
          </a:prstGeom>
          <a:noFill/>
        </p:spPr>
        <p:txBody>
          <a:bodyPr wrap="square">
            <a:spAutoFit/>
          </a:bodyPr>
          <a:lstStyle/>
          <a:p>
            <a:pPr>
              <a:defRPr sz="950">
                <a:solidFill>
                  <a:srgbClr val="334155"/>
                </a:solidFill>
                <a:latin typeface="Segoe UI"/>
              </a:defRPr>
            </a:pPr>
            <a:r>
              <a:t>Issue: SMEs require zero-cloud air-gapped privacy without paying recurring token API fees.</a:t>
            </a:r>
          </a:p>
          <a:p>
            <a:pPr>
              <a:spcBef>
                <a:spcPts val="600"/>
              </a:spcBef>
              <a:defRPr sz="950" b="1">
                <a:solidFill>
                  <a:srgbClr val="1E293B"/>
                </a:solidFill>
                <a:latin typeface="Segoe UI"/>
              </a:defRPr>
            </a:pPr>
            <a:r>
              <a:t>✔ Solution: 4-bit quantized Qwen2.5-Coder-3B (GGUF) running smoothly on consumer RTX 3050 GPUs (2.18 GB).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3. ARCHITECTURAL SOLUTION</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3: The TalkShow Solution — Architectural Blueprint</a:t>
            </a:r>
          </a:p>
          <a:p>
            <a:pPr>
              <a:defRPr sz="1050">
                <a:solidFill>
                  <a:srgbClr val="64748B"/>
                </a:solidFill>
                <a:latin typeface="Segoe UI"/>
              </a:defRPr>
            </a:pPr>
            <a:r>
              <a:t>End-to-end data flow: from natural language input to verified database execution and Generative UI</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6 of 16</a:t>
            </a:r>
          </a:p>
        </p:txBody>
      </p:sp>
      <p:sp>
        <p:nvSpPr>
          <p:cNvPr id="8" name="Rounded Rectangle 7"/>
          <p:cNvSpPr/>
          <p:nvPr/>
        </p:nvSpPr>
        <p:spPr>
          <a:xfrm>
            <a:off x="731520" y="1417320"/>
            <a:ext cx="256032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25603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2286000" cy="640080"/>
          </a:xfrm>
          <a:prstGeom prst="rect">
            <a:avLst/>
          </a:prstGeom>
          <a:noFill/>
        </p:spPr>
        <p:txBody>
          <a:bodyPr wrap="square">
            <a:spAutoFit/>
          </a:bodyPr>
          <a:lstStyle/>
          <a:p>
            <a:pPr>
              <a:defRPr sz="1000" b="1">
                <a:solidFill>
                  <a:srgbClr val="0369A1"/>
                </a:solidFill>
                <a:latin typeface="Segoe UI"/>
              </a:defRPr>
            </a:pPr>
            <a:r>
              <a:t>Layered Architecture</a:t>
            </a:r>
          </a:p>
          <a:p>
            <a:pPr>
              <a:defRPr sz="850">
                <a:solidFill>
                  <a:srgbClr val="64748B"/>
                </a:solidFill>
                <a:latin typeface="Segoe UI"/>
              </a:defRPr>
            </a:pPr>
            <a:r>
              <a:t>5-Tier production monorepo</a:t>
            </a:r>
          </a:p>
        </p:txBody>
      </p:sp>
      <p:sp>
        <p:nvSpPr>
          <p:cNvPr id="11" name="Rounded Rectangle 10"/>
          <p:cNvSpPr/>
          <p:nvPr/>
        </p:nvSpPr>
        <p:spPr>
          <a:xfrm>
            <a:off x="3456432" y="1417320"/>
            <a:ext cx="256032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56432" y="1417320"/>
            <a:ext cx="256032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508760"/>
            <a:ext cx="2286000" cy="640080"/>
          </a:xfrm>
          <a:prstGeom prst="rect">
            <a:avLst/>
          </a:prstGeom>
          <a:noFill/>
        </p:spPr>
        <p:txBody>
          <a:bodyPr wrap="square">
            <a:spAutoFit/>
          </a:bodyPr>
          <a:lstStyle/>
          <a:p>
            <a:pPr>
              <a:defRPr sz="1000" b="1">
                <a:solidFill>
                  <a:srgbClr val="065F46"/>
                </a:solidFill>
                <a:latin typeface="Segoe UI"/>
              </a:defRPr>
            </a:pPr>
            <a:r>
              <a:t>PromptGuard &amp; PII</a:t>
            </a:r>
          </a:p>
          <a:p>
            <a:pPr>
              <a:defRPr sz="850">
                <a:solidFill>
                  <a:srgbClr val="64748B"/>
                </a:solidFill>
                <a:latin typeface="Segoe UI"/>
              </a:defRPr>
            </a:pPr>
            <a:r>
              <a:t>Redacts Egyptian National IDs</a:t>
            </a:r>
          </a:p>
        </p:txBody>
      </p:sp>
      <p:sp>
        <p:nvSpPr>
          <p:cNvPr id="14" name="Rounded Rectangle 13"/>
          <p:cNvSpPr/>
          <p:nvPr/>
        </p:nvSpPr>
        <p:spPr>
          <a:xfrm>
            <a:off x="6181344" y="1417320"/>
            <a:ext cx="256032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81344" y="1417320"/>
            <a:ext cx="256032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1508760"/>
            <a:ext cx="2286000" cy="640080"/>
          </a:xfrm>
          <a:prstGeom prst="rect">
            <a:avLst/>
          </a:prstGeom>
          <a:noFill/>
        </p:spPr>
        <p:txBody>
          <a:bodyPr wrap="square">
            <a:spAutoFit/>
          </a:bodyPr>
          <a:lstStyle/>
          <a:p>
            <a:pPr>
              <a:defRPr sz="1000" b="1">
                <a:solidFill>
                  <a:srgbClr val="5B21B6"/>
                </a:solidFill>
                <a:latin typeface="Segoe UI"/>
              </a:defRPr>
            </a:pPr>
            <a:r>
              <a:t>HITL State Machine</a:t>
            </a:r>
          </a:p>
          <a:p>
            <a:pPr>
              <a:defRPr sz="850">
                <a:solidFill>
                  <a:srgbClr val="64748B"/>
                </a:solidFill>
                <a:latin typeface="Segoe UI"/>
              </a:defRPr>
            </a:pPr>
            <a:r>
              <a:t>Deterministic LangGraph safety</a:t>
            </a:r>
          </a:p>
        </p:txBody>
      </p:sp>
      <p:sp>
        <p:nvSpPr>
          <p:cNvPr id="17" name="Rounded Rectangle 16"/>
          <p:cNvSpPr/>
          <p:nvPr/>
        </p:nvSpPr>
        <p:spPr>
          <a:xfrm>
            <a:off x="8906256" y="1417320"/>
            <a:ext cx="256032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06256" y="1417320"/>
            <a:ext cx="2560320"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1508760"/>
            <a:ext cx="2286000" cy="640080"/>
          </a:xfrm>
          <a:prstGeom prst="rect">
            <a:avLst/>
          </a:prstGeom>
          <a:noFill/>
        </p:spPr>
        <p:txBody>
          <a:bodyPr wrap="square">
            <a:spAutoFit/>
          </a:bodyPr>
          <a:lstStyle/>
          <a:p>
            <a:pPr>
              <a:defRPr sz="1000" b="1">
                <a:solidFill>
                  <a:srgbClr val="9F1239"/>
                </a:solidFill>
                <a:latin typeface="Segoe UI"/>
              </a:defRPr>
            </a:pPr>
            <a:r>
              <a:t>Kernel RLS Isolation</a:t>
            </a:r>
          </a:p>
          <a:p>
            <a:pPr>
              <a:defRPr sz="850">
                <a:solidFill>
                  <a:srgbClr val="64748B"/>
                </a:solidFill>
                <a:latin typeface="Segoe UI"/>
              </a:defRPr>
            </a:pPr>
            <a:r>
              <a:t>PostgreSQL 16 multi-tenant data</a:t>
            </a:r>
          </a:p>
        </p:txBody>
      </p:sp>
      <p:sp>
        <p:nvSpPr>
          <p:cNvPr id="20" name="Rounded Rectangle 19"/>
          <p:cNvSpPr/>
          <p:nvPr/>
        </p:nvSpPr>
        <p:spPr>
          <a:xfrm>
            <a:off x="731520" y="2331720"/>
            <a:ext cx="10728655"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iagram_architecture_flow.png"/>
          <p:cNvPicPr>
            <a:picLocks noChangeAspect="1"/>
          </p:cNvPicPr>
          <p:nvPr/>
        </p:nvPicPr>
        <p:blipFill>
          <a:blip r:embed="rId3"/>
          <a:stretch>
            <a:fillRect/>
          </a:stretch>
        </p:blipFill>
        <p:spPr>
          <a:xfrm>
            <a:off x="914400" y="2423160"/>
            <a:ext cx="10362895" cy="438598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5B21B6"/>
                </a:solidFill>
                <a:latin typeface="Segoe UI"/>
              </a:defRPr>
            </a:pPr>
            <a:r>
              <a:t>●  3. AGENTIC ORCHESTRATION</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Solution Deep-Dive: Autonomous LangGraph Agent &amp; HITL Safety</a:t>
            </a:r>
          </a:p>
          <a:p>
            <a:pPr>
              <a:defRPr sz="1050">
                <a:solidFill>
                  <a:srgbClr val="64748B"/>
                </a:solidFill>
                <a:latin typeface="Segoe UI"/>
              </a:defRPr>
            </a:pPr>
            <a:r>
              <a:t>Deterministic state machines, multi-turn memory, and the Human-in-the-Loop approval gate</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7 of 16</a:t>
            </a:r>
          </a:p>
        </p:txBody>
      </p:sp>
      <p:sp>
        <p:nvSpPr>
          <p:cNvPr id="8" name="Rounded Rectangle 7"/>
          <p:cNvSpPr/>
          <p:nvPr/>
        </p:nvSpPr>
        <p:spPr>
          <a:xfrm>
            <a:off x="731520" y="141732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5242255"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36192"/>
            <a:ext cx="4876495" cy="1188720"/>
          </a:xfrm>
          <a:prstGeom prst="rect">
            <a:avLst/>
          </a:prstGeom>
          <a:noFill/>
        </p:spPr>
        <p:txBody>
          <a:bodyPr wrap="square">
            <a:spAutoFit/>
          </a:bodyPr>
          <a:lstStyle/>
          <a:p>
            <a:pPr>
              <a:defRPr sz="1200" b="1">
                <a:solidFill>
                  <a:srgbClr val="5B21B6"/>
                </a:solidFill>
                <a:latin typeface="Segoe UI"/>
              </a:defRPr>
            </a:pPr>
            <a:r>
              <a:t>LangGraph MasterCommandGraph</a:t>
            </a:r>
          </a:p>
          <a:p>
            <a:pPr>
              <a:spcBef>
                <a:spcPts val="200"/>
              </a:spcBef>
              <a:defRPr sz="950">
                <a:solidFill>
                  <a:srgbClr val="334155"/>
                </a:solidFill>
                <a:latin typeface="Segoe UI"/>
              </a:defRPr>
            </a:pPr>
            <a:r>
              <a:t>✔ 10 deterministic intent routes (replaces chaotic ReAct loops).</a:t>
            </a:r>
          </a:p>
          <a:p>
            <a:pPr>
              <a:spcBef>
                <a:spcPts val="200"/>
              </a:spcBef>
              <a:defRPr sz="950">
                <a:solidFill>
                  <a:srgbClr val="334155"/>
                </a:solidFill>
                <a:latin typeface="Segoe UI"/>
              </a:defRPr>
            </a:pPr>
            <a:r>
              <a:t>✔ 3-Tier memory: short-term buffer, pgvector RAG, and merchant prefs.</a:t>
            </a:r>
          </a:p>
        </p:txBody>
      </p:sp>
      <p:sp>
        <p:nvSpPr>
          <p:cNvPr id="11" name="Rounded Rectangle 10"/>
          <p:cNvSpPr/>
          <p:nvPr/>
        </p:nvSpPr>
        <p:spPr>
          <a:xfrm>
            <a:off x="6217920" y="141732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417320"/>
            <a:ext cx="5242255"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36192"/>
            <a:ext cx="4876495" cy="1188720"/>
          </a:xfrm>
          <a:prstGeom prst="rect">
            <a:avLst/>
          </a:prstGeom>
          <a:noFill/>
        </p:spPr>
        <p:txBody>
          <a:bodyPr wrap="square">
            <a:spAutoFit/>
          </a:bodyPr>
          <a:lstStyle/>
          <a:p>
            <a:pPr>
              <a:defRPr sz="1200" b="1">
                <a:solidFill>
                  <a:srgbClr val="0369A1"/>
                </a:solidFill>
                <a:latin typeface="Segoe UI"/>
              </a:defRPr>
            </a:pPr>
            <a:r>
              <a:t>Human-in-the-Loop (HITL) Safety Gate</a:t>
            </a:r>
          </a:p>
          <a:p>
            <a:pPr>
              <a:spcBef>
                <a:spcPts val="200"/>
              </a:spcBef>
              <a:defRPr sz="950">
                <a:solidFill>
                  <a:srgbClr val="334155"/>
                </a:solidFill>
                <a:latin typeface="Segoe UI"/>
              </a:defRPr>
            </a:pPr>
            <a:r>
              <a:t>▶ Shadow Dry-Run simulates profit margin floor: Price &gt; Cost.</a:t>
            </a:r>
          </a:p>
          <a:p>
            <a:pPr>
              <a:spcBef>
                <a:spcPts val="200"/>
              </a:spcBef>
              <a:defRPr sz="950">
                <a:solidFill>
                  <a:srgbClr val="334155"/>
                </a:solidFill>
                <a:latin typeface="Segoe UI"/>
              </a:defRPr>
            </a:pPr>
            <a:r>
              <a:t>▶ Generates cryptographic `actionId`; requires merchant click to commit.</a:t>
            </a:r>
          </a:p>
        </p:txBody>
      </p:sp>
      <p:sp>
        <p:nvSpPr>
          <p:cNvPr id="14" name="Rounded Rectangle 13"/>
          <p:cNvSpPr/>
          <p:nvPr/>
        </p:nvSpPr>
        <p:spPr>
          <a:xfrm>
            <a:off x="731520" y="2926080"/>
            <a:ext cx="10728655"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iagram_hitl_workflow.png"/>
          <p:cNvPicPr>
            <a:picLocks noChangeAspect="1"/>
          </p:cNvPicPr>
          <p:nvPr/>
        </p:nvPicPr>
        <p:blipFill>
          <a:blip r:embed="rId3"/>
          <a:stretch>
            <a:fillRect/>
          </a:stretch>
        </p:blipFill>
        <p:spPr>
          <a:xfrm>
            <a:off x="914400" y="3017520"/>
            <a:ext cx="10362895" cy="368821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3. CONVERSATIONAL BUSINESS INTELLIGENCE</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Solution Deep-Dive: AST Sandboxed Text-to-SQL Engine</a:t>
            </a:r>
          </a:p>
          <a:p>
            <a:pPr>
              <a:defRPr sz="1050">
                <a:solidFill>
                  <a:srgbClr val="64748B"/>
                </a:solidFill>
                <a:latin typeface="Segoe UI"/>
              </a:defRPr>
            </a:pPr>
            <a:r>
              <a:t>Translating Egyptian colloquial queries to AST-validated SQL across 71+ normalized tables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8 of 16</a:t>
            </a:r>
          </a:p>
        </p:txBody>
      </p:sp>
      <p:sp>
        <p:nvSpPr>
          <p:cNvPr id="8" name="Rounded Rectangle 7"/>
          <p:cNvSpPr/>
          <p:nvPr/>
        </p:nvSpPr>
        <p:spPr>
          <a:xfrm>
            <a:off x="731520" y="1417320"/>
            <a:ext cx="345643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3456432"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3182112" cy="640080"/>
          </a:xfrm>
          <a:prstGeom prst="rect">
            <a:avLst/>
          </a:prstGeom>
          <a:noFill/>
        </p:spPr>
        <p:txBody>
          <a:bodyPr wrap="square">
            <a:spAutoFit/>
          </a:bodyPr>
          <a:lstStyle/>
          <a:p>
            <a:pPr>
              <a:defRPr sz="1000" b="1">
                <a:solidFill>
                  <a:srgbClr val="0369A1"/>
                </a:solidFill>
                <a:latin typeface="Segoe UI"/>
              </a:defRPr>
            </a:pPr>
            <a:r>
              <a:t>Vector Schema Pruner</a:t>
            </a:r>
          </a:p>
          <a:p>
            <a:pPr>
              <a:defRPr sz="850">
                <a:solidFill>
                  <a:srgbClr val="64748B"/>
                </a:solidFill>
                <a:latin typeface="Segoe UI"/>
              </a:defRPr>
            </a:pPr>
            <a:r>
              <a:t>Extracts only 3-5 relevant tables (70% token savings)</a:t>
            </a:r>
          </a:p>
        </p:txBody>
      </p:sp>
      <p:sp>
        <p:nvSpPr>
          <p:cNvPr id="11" name="Rounded Rectangle 10"/>
          <p:cNvSpPr/>
          <p:nvPr/>
        </p:nvSpPr>
        <p:spPr>
          <a:xfrm>
            <a:off x="4370832" y="1417320"/>
            <a:ext cx="345643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417320"/>
            <a:ext cx="3456432"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08760"/>
            <a:ext cx="3182112" cy="640080"/>
          </a:xfrm>
          <a:prstGeom prst="rect">
            <a:avLst/>
          </a:prstGeom>
          <a:noFill/>
        </p:spPr>
        <p:txBody>
          <a:bodyPr wrap="square">
            <a:spAutoFit/>
          </a:bodyPr>
          <a:lstStyle/>
          <a:p>
            <a:pPr>
              <a:defRPr sz="1000" b="1">
                <a:solidFill>
                  <a:srgbClr val="9F1239"/>
                </a:solidFill>
                <a:latin typeface="Segoe UI"/>
              </a:defRPr>
            </a:pPr>
            <a:r>
              <a:t>sqlglot AST Sandbox</a:t>
            </a:r>
          </a:p>
          <a:p>
            <a:pPr>
              <a:defRPr sz="850">
                <a:solidFill>
                  <a:srgbClr val="64748B"/>
                </a:solidFill>
                <a:latin typeface="Segoe UI"/>
              </a:defRPr>
            </a:pPr>
            <a:r>
              <a:t>Rejects DROP, DELETE, UPDATE, and catalog probes</a:t>
            </a:r>
          </a:p>
        </p:txBody>
      </p:sp>
      <p:sp>
        <p:nvSpPr>
          <p:cNvPr id="14" name="Rounded Rectangle 13"/>
          <p:cNvSpPr/>
          <p:nvPr/>
        </p:nvSpPr>
        <p:spPr>
          <a:xfrm>
            <a:off x="8010144" y="1417320"/>
            <a:ext cx="345643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10144" y="1417320"/>
            <a:ext cx="3456432"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1508760"/>
            <a:ext cx="3182112" cy="640080"/>
          </a:xfrm>
          <a:prstGeom prst="rect">
            <a:avLst/>
          </a:prstGeom>
          <a:noFill/>
        </p:spPr>
        <p:txBody>
          <a:bodyPr wrap="square">
            <a:spAutoFit/>
          </a:bodyPr>
          <a:lstStyle/>
          <a:p>
            <a:pPr>
              <a:defRPr sz="1000" b="1">
                <a:solidFill>
                  <a:srgbClr val="065F46"/>
                </a:solidFill>
                <a:latin typeface="Segoe UI"/>
              </a:defRPr>
            </a:pPr>
            <a:r>
              <a:t>Row Clamping &amp; Reflection</a:t>
            </a:r>
          </a:p>
          <a:p>
            <a:pPr>
              <a:defRPr sz="850">
                <a:solidFill>
                  <a:srgbClr val="64748B"/>
                </a:solidFill>
                <a:latin typeface="Segoe UI"/>
              </a:defRPr>
            </a:pPr>
            <a:r>
              <a:t>LIMIT 500 enforced with automated reflection loop</a:t>
            </a:r>
          </a:p>
        </p:txBody>
      </p:sp>
      <p:sp>
        <p:nvSpPr>
          <p:cNvPr id="17" name="Rounded Rectangle 16"/>
          <p:cNvSpPr/>
          <p:nvPr/>
        </p:nvSpPr>
        <p:spPr>
          <a:xfrm>
            <a:off x="731520" y="2331720"/>
            <a:ext cx="10728655"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agram_ast_defense.png"/>
          <p:cNvPicPr>
            <a:picLocks noChangeAspect="1"/>
          </p:cNvPicPr>
          <p:nvPr/>
        </p:nvPicPr>
        <p:blipFill>
          <a:blip r:embed="rId3"/>
          <a:stretch>
            <a:fillRect/>
          </a:stretch>
        </p:blipFill>
        <p:spPr>
          <a:xfrm>
            <a:off x="914400" y="2423160"/>
            <a:ext cx="10362895" cy="418263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D1FAE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65F46"/>
                </a:solidFill>
                <a:latin typeface="Segoe UI"/>
              </a:defRPr>
            </a:pPr>
            <a:r>
              <a:t>●  3. MACHINE LEARNING &amp; MLOPS</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Solution Deep-Dive: Predictive MLOps &amp; Statistical ML</a:t>
            </a:r>
          </a:p>
          <a:p>
            <a:pPr>
              <a:defRPr sz="1050">
                <a:solidFill>
                  <a:srgbClr val="64748B"/>
                </a:solidFill>
                <a:latin typeface="Segoe UI"/>
              </a:defRPr>
            </a:pPr>
            <a:r>
              <a:t>Quantile gradient boosting, SHAP feature attributions, and algorithmic customer segmentation</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9 of 16</a:t>
            </a:r>
          </a:p>
        </p:txBody>
      </p:sp>
      <p:sp>
        <p:nvSpPr>
          <p:cNvPr id="8" name="Rounded Rectangle 7"/>
          <p:cNvSpPr/>
          <p:nvPr/>
        </p:nvSpPr>
        <p:spPr>
          <a:xfrm>
            <a:off x="731520" y="1417320"/>
            <a:ext cx="34564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3456432"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3182112" cy="914400"/>
          </a:xfrm>
          <a:prstGeom prst="rect">
            <a:avLst/>
          </a:prstGeom>
          <a:noFill/>
        </p:spPr>
        <p:txBody>
          <a:bodyPr wrap="square">
            <a:spAutoFit/>
          </a:bodyPr>
          <a:lstStyle/>
          <a:p>
            <a:pPr>
              <a:defRPr sz="1050" b="1">
                <a:solidFill>
                  <a:srgbClr val="0369A1"/>
                </a:solidFill>
                <a:latin typeface="Segoe UI"/>
              </a:defRPr>
            </a:pPr>
            <a:r>
              <a:t>Quantile Demand Forecast</a:t>
            </a:r>
          </a:p>
          <a:p>
            <a:pPr>
              <a:spcBef>
                <a:spcPts val="200"/>
              </a:spcBef>
              <a:defRPr sz="850">
                <a:solidFill>
                  <a:srgbClr val="334155"/>
                </a:solidFill>
                <a:latin typeface="Segoe UI"/>
              </a:defRPr>
            </a:pPr>
            <a:r>
              <a:t>LightGBM regressor predicting 30-day sales with 95% CI bands. WAPE = 14.2% (vs Prophet 28.6%).</a:t>
            </a:r>
          </a:p>
        </p:txBody>
      </p:sp>
      <p:sp>
        <p:nvSpPr>
          <p:cNvPr id="11" name="Rounded Rectangle 10"/>
          <p:cNvSpPr/>
          <p:nvPr/>
        </p:nvSpPr>
        <p:spPr>
          <a:xfrm>
            <a:off x="4370832" y="1417320"/>
            <a:ext cx="34564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417320"/>
            <a:ext cx="3456432"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08760"/>
            <a:ext cx="3182112" cy="914400"/>
          </a:xfrm>
          <a:prstGeom prst="rect">
            <a:avLst/>
          </a:prstGeom>
          <a:noFill/>
        </p:spPr>
        <p:txBody>
          <a:bodyPr wrap="square">
            <a:spAutoFit/>
          </a:bodyPr>
          <a:lstStyle/>
          <a:p>
            <a:pPr>
              <a:defRPr sz="1050" b="1">
                <a:solidFill>
                  <a:srgbClr val="065F46"/>
                </a:solidFill>
                <a:latin typeface="Segoe UI"/>
              </a:defRPr>
            </a:pPr>
            <a:r>
              <a:t>SHAP Explainability</a:t>
            </a:r>
          </a:p>
          <a:p>
            <a:pPr>
              <a:spcBef>
                <a:spcPts val="200"/>
              </a:spcBef>
              <a:defRPr sz="850">
                <a:solidFill>
                  <a:srgbClr val="334155"/>
                </a:solidFill>
                <a:latin typeface="Segoe UI"/>
              </a:defRPr>
            </a:pPr>
            <a:r>
              <a:t>TreeExplainer translates tree splits into plain retail drivers (e.g. Ramadan bump +34.2%, price cuts).</a:t>
            </a:r>
          </a:p>
        </p:txBody>
      </p:sp>
      <p:sp>
        <p:nvSpPr>
          <p:cNvPr id="14" name="Rounded Rectangle 13"/>
          <p:cNvSpPr/>
          <p:nvPr/>
        </p:nvSpPr>
        <p:spPr>
          <a:xfrm>
            <a:off x="8010144" y="1417320"/>
            <a:ext cx="34564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10144" y="1417320"/>
            <a:ext cx="3456432"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1508760"/>
            <a:ext cx="3182112" cy="914400"/>
          </a:xfrm>
          <a:prstGeom prst="rect">
            <a:avLst/>
          </a:prstGeom>
          <a:noFill/>
        </p:spPr>
        <p:txBody>
          <a:bodyPr wrap="square">
            <a:spAutoFit/>
          </a:bodyPr>
          <a:lstStyle/>
          <a:p>
            <a:pPr>
              <a:defRPr sz="1050" b="1">
                <a:solidFill>
                  <a:srgbClr val="5B21B6"/>
                </a:solidFill>
                <a:latin typeface="Segoe UI"/>
              </a:defRPr>
            </a:pPr>
            <a:r>
              <a:t>Log-RFM K-Means (K=5)</a:t>
            </a:r>
          </a:p>
          <a:p>
            <a:pPr>
              <a:spcBef>
                <a:spcPts val="200"/>
              </a:spcBef>
              <a:defRPr sz="850">
                <a:solidFill>
                  <a:srgbClr val="334155"/>
                </a:solidFill>
                <a:latin typeface="Segoe UI"/>
              </a:defRPr>
            </a:pPr>
            <a:r>
              <a:t>Segments customer base into VIP, Loyal, New, At-Risk, and Churned for automated targeted win-backs.</a:t>
            </a:r>
          </a:p>
        </p:txBody>
      </p:sp>
      <p:sp>
        <p:nvSpPr>
          <p:cNvPr id="17" name="Rounded Rectangle 16"/>
          <p:cNvSpPr/>
          <p:nvPr/>
        </p:nvSpPr>
        <p:spPr>
          <a:xfrm>
            <a:off x="731520" y="2606040"/>
            <a:ext cx="3456432"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_forecast_cone.png"/>
          <p:cNvPicPr>
            <a:picLocks noChangeAspect="1"/>
          </p:cNvPicPr>
          <p:nvPr/>
        </p:nvPicPr>
        <p:blipFill>
          <a:blip r:embed="rId3"/>
          <a:stretch>
            <a:fillRect/>
          </a:stretch>
        </p:blipFill>
        <p:spPr>
          <a:xfrm>
            <a:off x="777240" y="2697480"/>
            <a:ext cx="3364992" cy="1858279"/>
          </a:xfrm>
          <a:prstGeom prst="rect">
            <a:avLst/>
          </a:prstGeom>
        </p:spPr>
      </p:pic>
      <p:sp>
        <p:nvSpPr>
          <p:cNvPr id="19" name="Rounded Rectangle 18"/>
          <p:cNvSpPr/>
          <p:nvPr/>
        </p:nvSpPr>
        <p:spPr>
          <a:xfrm>
            <a:off x="4370832" y="2606040"/>
            <a:ext cx="3456432"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art_shap_importance.png"/>
          <p:cNvPicPr>
            <a:picLocks noChangeAspect="1"/>
          </p:cNvPicPr>
          <p:nvPr/>
        </p:nvPicPr>
        <p:blipFill>
          <a:blip r:embed="rId4"/>
          <a:stretch>
            <a:fillRect/>
          </a:stretch>
        </p:blipFill>
        <p:spPr>
          <a:xfrm>
            <a:off x="4416552" y="2697480"/>
            <a:ext cx="3364992" cy="1982559"/>
          </a:xfrm>
          <a:prstGeom prst="rect">
            <a:avLst/>
          </a:prstGeom>
        </p:spPr>
      </p:pic>
      <p:sp>
        <p:nvSpPr>
          <p:cNvPr id="21" name="Rounded Rectangle 20"/>
          <p:cNvSpPr/>
          <p:nvPr/>
        </p:nvSpPr>
        <p:spPr>
          <a:xfrm>
            <a:off x="8010144" y="2606040"/>
            <a:ext cx="3456432"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art_rfm_clusters.png"/>
          <p:cNvPicPr>
            <a:picLocks noChangeAspect="1"/>
          </p:cNvPicPr>
          <p:nvPr/>
        </p:nvPicPr>
        <p:blipFill>
          <a:blip r:embed="rId5"/>
          <a:stretch>
            <a:fillRect/>
          </a:stretch>
        </p:blipFill>
        <p:spPr>
          <a:xfrm>
            <a:off x="8055864" y="2697480"/>
            <a:ext cx="3364992" cy="204106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4. USER EXPERIENCE &amp; INTERFACES</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4: Live Experience — Interactive Generative UI</a:t>
            </a:r>
          </a:p>
          <a:p>
            <a:pPr>
              <a:defRPr sz="1050">
                <a:solidFill>
                  <a:srgbClr val="64748B"/>
                </a:solidFill>
                <a:latin typeface="Segoe UI"/>
              </a:defRPr>
            </a:pPr>
            <a:r>
              <a:t>Streaming dynamic React components instead of static text blocks for actionable operations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10 of 16</a:t>
            </a:r>
          </a:p>
        </p:txBody>
      </p:sp>
      <p:sp>
        <p:nvSpPr>
          <p:cNvPr id="8" name="Rounded Rectangle 7"/>
          <p:cNvSpPr/>
          <p:nvPr/>
        </p:nvSpPr>
        <p:spPr>
          <a:xfrm>
            <a:off x="731520" y="1417320"/>
            <a:ext cx="42062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420624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27048"/>
            <a:ext cx="3840480" cy="1234440"/>
          </a:xfrm>
          <a:prstGeom prst="rect">
            <a:avLst/>
          </a:prstGeom>
          <a:noFill/>
        </p:spPr>
        <p:txBody>
          <a:bodyPr wrap="square">
            <a:spAutoFit/>
          </a:bodyPr>
          <a:lstStyle/>
          <a:p>
            <a:pPr>
              <a:defRPr sz="1100" b="1">
                <a:solidFill>
                  <a:srgbClr val="0369A1"/>
                </a:solidFill>
                <a:latin typeface="Consolas"/>
              </a:defRPr>
            </a:pPr>
            <a:r>
              <a:t>&lt;BulkPricePreviewCard /&gt;</a:t>
            </a:r>
          </a:p>
          <a:p>
            <a:pPr>
              <a:spcBef>
                <a:spcPts val="300"/>
              </a:spcBef>
              <a:defRPr sz="900">
                <a:solidFill>
                  <a:srgbClr val="334155"/>
                </a:solidFill>
                <a:latin typeface="Segoe UI"/>
              </a:defRPr>
            </a:pPr>
            <a:r>
              <a:t>Displays before/after prices, profit margin delta, and 1-click commit button.</a:t>
            </a:r>
          </a:p>
        </p:txBody>
      </p:sp>
      <p:sp>
        <p:nvSpPr>
          <p:cNvPr id="11" name="Rounded Rectangle 10"/>
          <p:cNvSpPr/>
          <p:nvPr/>
        </p:nvSpPr>
        <p:spPr>
          <a:xfrm>
            <a:off x="731520" y="3017520"/>
            <a:ext cx="42062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017520"/>
            <a:ext cx="420624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27248"/>
            <a:ext cx="3840480" cy="1234440"/>
          </a:xfrm>
          <a:prstGeom prst="rect">
            <a:avLst/>
          </a:prstGeom>
          <a:noFill/>
        </p:spPr>
        <p:txBody>
          <a:bodyPr wrap="square">
            <a:spAutoFit/>
          </a:bodyPr>
          <a:lstStyle/>
          <a:p>
            <a:pPr>
              <a:defRPr sz="1100" b="1">
                <a:solidFill>
                  <a:srgbClr val="065F46"/>
                </a:solidFill>
                <a:latin typeface="Consolas"/>
              </a:defRPr>
            </a:pPr>
            <a:r>
              <a:t>&lt;SalesForecastCard /&gt;</a:t>
            </a:r>
          </a:p>
          <a:p>
            <a:pPr>
              <a:spcBef>
                <a:spcPts val="300"/>
              </a:spcBef>
              <a:defRPr sz="900">
                <a:solidFill>
                  <a:srgbClr val="334155"/>
                </a:solidFill>
                <a:latin typeface="Segoe UI"/>
              </a:defRPr>
            </a:pPr>
            <a:r>
              <a:t>Interactive Recharts 30-day trajectory with 95% confidence intervals.</a:t>
            </a:r>
          </a:p>
        </p:txBody>
      </p:sp>
      <p:sp>
        <p:nvSpPr>
          <p:cNvPr id="14" name="Rounded Rectangle 13"/>
          <p:cNvSpPr/>
          <p:nvPr/>
        </p:nvSpPr>
        <p:spPr>
          <a:xfrm>
            <a:off x="731520" y="4617720"/>
            <a:ext cx="42062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4617720"/>
            <a:ext cx="4206240"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27448"/>
            <a:ext cx="3840480" cy="1234440"/>
          </a:xfrm>
          <a:prstGeom prst="rect">
            <a:avLst/>
          </a:prstGeom>
          <a:noFill/>
        </p:spPr>
        <p:txBody>
          <a:bodyPr wrap="square">
            <a:spAutoFit/>
          </a:bodyPr>
          <a:lstStyle/>
          <a:p>
            <a:pPr>
              <a:defRPr sz="1100" b="1">
                <a:solidFill>
                  <a:srgbClr val="9F1239"/>
                </a:solidFill>
                <a:latin typeface="Consolas"/>
              </a:defRPr>
            </a:pPr>
            <a:r>
              <a:t>&lt;InventoryAlertsList /&gt;</a:t>
            </a:r>
          </a:p>
          <a:p>
            <a:pPr>
              <a:spcBef>
                <a:spcPts val="300"/>
              </a:spcBef>
              <a:defRPr sz="900">
                <a:solidFill>
                  <a:srgbClr val="334155"/>
                </a:solidFill>
                <a:latin typeface="Segoe UI"/>
              </a:defRPr>
            </a:pPr>
            <a:r>
              <a:t>Flags critical Days-to-Stockout (DUS) and drafts automated supplier Purchase Orders.</a:t>
            </a:r>
          </a:p>
        </p:txBody>
      </p:sp>
      <p:sp>
        <p:nvSpPr>
          <p:cNvPr id="17" name="Rounded Rectangle 16"/>
          <p:cNvSpPr/>
          <p:nvPr/>
        </p:nvSpPr>
        <p:spPr>
          <a:xfrm>
            <a:off x="5120640" y="1417320"/>
            <a:ext cx="633953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agram_genui_concept.png"/>
          <p:cNvPicPr>
            <a:picLocks noChangeAspect="1"/>
          </p:cNvPicPr>
          <p:nvPr/>
        </p:nvPicPr>
        <p:blipFill>
          <a:blip r:embed="rId3"/>
          <a:stretch>
            <a:fillRect/>
          </a:stretch>
        </p:blipFill>
        <p:spPr>
          <a:xfrm>
            <a:off x="5257800" y="1737360"/>
            <a:ext cx="6065215" cy="227533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4. LIVE SYSTEM DEMONSTRATION</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Live Experience: Real-World Dialectal NLP Scenarios</a:t>
            </a:r>
          </a:p>
          <a:p>
            <a:pPr>
              <a:defRPr sz="1050">
                <a:solidFill>
                  <a:srgbClr val="64748B"/>
                </a:solidFill>
                <a:latin typeface="Segoe UI"/>
              </a:defRPr>
            </a:pPr>
            <a:r>
              <a:t>Executing complex multi-step operations through natural Egyptian colloquial conversation</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11 of 16</a:t>
            </a:r>
          </a:p>
        </p:txBody>
      </p:sp>
      <p:sp>
        <p:nvSpPr>
          <p:cNvPr id="8" name="Rounded Rectangle 7"/>
          <p:cNvSpPr/>
          <p:nvPr/>
        </p:nvSpPr>
        <p:spPr>
          <a:xfrm>
            <a:off x="731520" y="1417320"/>
            <a:ext cx="5257800"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525780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536192"/>
            <a:ext cx="4937760" cy="1417320"/>
          </a:xfrm>
          <a:prstGeom prst="rect">
            <a:avLst/>
          </a:prstGeom>
          <a:noFill/>
        </p:spPr>
        <p:txBody>
          <a:bodyPr wrap="square">
            <a:spAutoFit/>
          </a:bodyPr>
          <a:lstStyle/>
          <a:p>
            <a:pPr>
              <a:defRPr sz="1100" b="1">
                <a:solidFill>
                  <a:srgbClr val="0369A1"/>
                </a:solidFill>
                <a:latin typeface="Segoe UI"/>
              </a:defRPr>
            </a:pPr>
            <a:r>
              <a:t>Scenario A: Bulk Discount with HITL</a:t>
            </a:r>
          </a:p>
          <a:p>
            <a:pPr>
              <a:spcBef>
                <a:spcPts val="200"/>
              </a:spcBef>
              <a:defRPr sz="950" b="1">
                <a:solidFill>
                  <a:srgbClr val="0369A1"/>
                </a:solidFill>
                <a:latin typeface="Segoe UI"/>
              </a:defRPr>
            </a:pPr>
            <a:r>
              <a:t>Prompt: "طبق خصم 15% على السماعات اللي رصيدها اكتر من 50 قطعه"</a:t>
            </a:r>
          </a:p>
          <a:p>
            <a:pPr>
              <a:spcBef>
                <a:spcPts val="200"/>
              </a:spcBef>
              <a:defRPr sz="850">
                <a:solidFill>
                  <a:srgbClr val="334155"/>
                </a:solidFill>
                <a:latin typeface="Segoe UI"/>
              </a:defRPr>
            </a:pPr>
            <a:r>
              <a:t>• Normalizes 'سماعات' -&gt; Category 'Headphones'</a:t>
            </a:r>
            <a:br/>
            <a:r>
              <a:t>• Shadow dry-run verifies margin floor: avg margin 38.5% -&gt; 27.6%</a:t>
            </a:r>
            <a:br/>
            <a:r>
              <a:t>• Emits `&lt;BulkPricePreviewCard /&gt;` with 1-click Approve button</a:t>
            </a:r>
          </a:p>
        </p:txBody>
      </p:sp>
      <p:sp>
        <p:nvSpPr>
          <p:cNvPr id="11" name="Rounded Rectangle 10"/>
          <p:cNvSpPr/>
          <p:nvPr/>
        </p:nvSpPr>
        <p:spPr>
          <a:xfrm>
            <a:off x="6172200" y="1417320"/>
            <a:ext cx="5257800"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25780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536192"/>
            <a:ext cx="4937760" cy="1417320"/>
          </a:xfrm>
          <a:prstGeom prst="rect">
            <a:avLst/>
          </a:prstGeom>
          <a:noFill/>
        </p:spPr>
        <p:txBody>
          <a:bodyPr wrap="square">
            <a:spAutoFit/>
          </a:bodyPr>
          <a:lstStyle/>
          <a:p>
            <a:pPr>
              <a:defRPr sz="1100" b="1">
                <a:solidFill>
                  <a:srgbClr val="065F46"/>
                </a:solidFill>
                <a:latin typeface="Segoe UI"/>
              </a:defRPr>
            </a:pPr>
            <a:r>
              <a:t>Scenario B: Predictive Stockout Alert</a:t>
            </a:r>
          </a:p>
          <a:p>
            <a:pPr>
              <a:spcBef>
                <a:spcPts val="200"/>
              </a:spcBef>
              <a:defRPr sz="950" b="1">
                <a:solidFill>
                  <a:srgbClr val="0369A1"/>
                </a:solidFill>
                <a:latin typeface="Segoe UI"/>
              </a:defRPr>
            </a:pPr>
            <a:r>
              <a:t>Prompt: "قولي ايه البضاعة اللي ممكن تخلص مننا الأسبوع الجاي"</a:t>
            </a:r>
          </a:p>
          <a:p>
            <a:pPr>
              <a:spcBef>
                <a:spcPts val="200"/>
              </a:spcBef>
              <a:defRPr sz="850">
                <a:solidFill>
                  <a:srgbClr val="334155"/>
                </a:solidFill>
                <a:latin typeface="Segoe UI"/>
              </a:defRPr>
            </a:pPr>
            <a:r>
              <a:t>• Runs StockoutOptimizer across tenant inventory</a:t>
            </a:r>
            <a:br/>
            <a:r>
              <a:t>• Calculates Days Until Stockout: DUS = Q / EWMA_d &lt;= 7 days</a:t>
            </a:r>
            <a:br/>
            <a:r>
              <a:t>• Emits `&lt;InventoryAlertsList /&gt;` with instant Purchase Order draft</a:t>
            </a:r>
          </a:p>
        </p:txBody>
      </p:sp>
      <p:sp>
        <p:nvSpPr>
          <p:cNvPr id="14" name="Rounded Rectangle 13"/>
          <p:cNvSpPr/>
          <p:nvPr/>
        </p:nvSpPr>
        <p:spPr>
          <a:xfrm>
            <a:off x="731520" y="3154680"/>
            <a:ext cx="10728655" cy="3017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iagram_dialect_flow.png"/>
          <p:cNvPicPr>
            <a:picLocks noChangeAspect="1"/>
          </p:cNvPicPr>
          <p:nvPr/>
        </p:nvPicPr>
        <p:blipFill>
          <a:blip r:embed="rId3"/>
          <a:stretch>
            <a:fillRect/>
          </a:stretch>
        </p:blipFill>
        <p:spPr>
          <a:xfrm>
            <a:off x="914400" y="3246120"/>
            <a:ext cx="10362895" cy="38875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5. TECHNICAL ARCHITECTURE</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5: Enterprise Tech Stack &amp; Engineering Monorepo</a:t>
            </a:r>
          </a:p>
          <a:p>
            <a:pPr>
              <a:defRPr sz="1050">
                <a:solidFill>
                  <a:srgbClr val="64748B"/>
                </a:solidFill>
                <a:latin typeface="Segoe UI"/>
              </a:defRPr>
            </a:pPr>
            <a:r>
              <a:t>Production-grade multi-tenant stack engineered for high throughput, security, and low latency</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12 of 16</a:t>
            </a:r>
          </a:p>
        </p:txBody>
      </p:sp>
      <p:sp>
        <p:nvSpPr>
          <p:cNvPr id="8" name="Rounded Rectangle 7"/>
          <p:cNvSpPr/>
          <p:nvPr/>
        </p:nvSpPr>
        <p:spPr>
          <a:xfrm>
            <a:off x="731520" y="1417320"/>
            <a:ext cx="2560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25603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1600200"/>
            <a:ext cx="223113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369A1"/>
                </a:solidFill>
                <a:latin typeface="Segoe UI"/>
              </a:defRPr>
            </a:pPr>
            <a:r>
              <a:t>1. CLIENT &amp; GENUI</a:t>
            </a:r>
          </a:p>
        </p:txBody>
      </p:sp>
      <p:sp>
        <p:nvSpPr>
          <p:cNvPr id="11" name="TextBox 10"/>
          <p:cNvSpPr txBox="1"/>
          <p:nvPr/>
        </p:nvSpPr>
        <p:spPr>
          <a:xfrm>
            <a:off x="896112" y="2103120"/>
            <a:ext cx="2231136" cy="3931920"/>
          </a:xfrm>
          <a:prstGeom prst="rect">
            <a:avLst/>
          </a:prstGeom>
          <a:noFill/>
        </p:spPr>
        <p:txBody>
          <a:bodyPr wrap="square">
            <a:spAutoFit/>
          </a:bodyPr>
          <a:lstStyle/>
          <a:p/>
          <a:p>
            <a:pPr>
              <a:spcBef>
                <a:spcPts val="800"/>
              </a:spcBef>
              <a:defRPr sz="1000" b="1">
                <a:solidFill>
                  <a:srgbClr val="1E293B"/>
                </a:solidFill>
                <a:latin typeface="Segoe UI"/>
              </a:defRPr>
            </a:pPr>
            <a:r>
              <a:t>✔ React 18 &amp; Vite</a:t>
            </a:r>
          </a:p>
          <a:p>
            <a:pPr>
              <a:spcBef>
                <a:spcPts val="100"/>
              </a:spcBef>
              <a:defRPr sz="850">
                <a:solidFill>
                  <a:srgbClr val="334155"/>
                </a:solidFill>
                <a:latin typeface="Segoe UI"/>
              </a:defRPr>
            </a:pPr>
            <a:r>
              <a:t>Ultra-fast bundling and HMR.</a:t>
            </a:r>
          </a:p>
          <a:p>
            <a:pPr>
              <a:spcBef>
                <a:spcPts val="800"/>
              </a:spcBef>
              <a:defRPr sz="1000" b="1">
                <a:solidFill>
                  <a:srgbClr val="1E293B"/>
                </a:solidFill>
                <a:latin typeface="Segoe UI"/>
              </a:defRPr>
            </a:pPr>
            <a:r>
              <a:t>✔ Redux Toolkit</a:t>
            </a:r>
          </a:p>
          <a:p>
            <a:pPr>
              <a:spcBef>
                <a:spcPts val="100"/>
              </a:spcBef>
              <a:defRPr sz="850">
                <a:solidFill>
                  <a:srgbClr val="334155"/>
                </a:solidFill>
                <a:latin typeface="Segoe UI"/>
              </a:defRPr>
            </a:pPr>
            <a:r>
              <a:t>Centralized merchant state.</a:t>
            </a:r>
          </a:p>
          <a:p>
            <a:pPr>
              <a:spcBef>
                <a:spcPts val="800"/>
              </a:spcBef>
              <a:defRPr sz="1000" b="1">
                <a:solidFill>
                  <a:srgbClr val="1E293B"/>
                </a:solidFill>
                <a:latin typeface="Segoe UI"/>
              </a:defRPr>
            </a:pPr>
            <a:r>
              <a:t>✔ Tailwind CSS</a:t>
            </a:r>
          </a:p>
          <a:p>
            <a:pPr>
              <a:spcBef>
                <a:spcPts val="100"/>
              </a:spcBef>
              <a:defRPr sz="850">
                <a:solidFill>
                  <a:srgbClr val="334155"/>
                </a:solidFill>
                <a:latin typeface="Segoe UI"/>
              </a:defRPr>
            </a:pPr>
            <a:r>
              <a:t>Modern sleek styling system.</a:t>
            </a:r>
          </a:p>
          <a:p>
            <a:pPr>
              <a:spcBef>
                <a:spcPts val="800"/>
              </a:spcBef>
              <a:defRPr sz="1000" b="1">
                <a:solidFill>
                  <a:srgbClr val="1E293B"/>
                </a:solidFill>
                <a:latin typeface="Segoe UI"/>
              </a:defRPr>
            </a:pPr>
            <a:r>
              <a:t>✔ Recharts &amp; Lucide</a:t>
            </a:r>
          </a:p>
          <a:p>
            <a:pPr>
              <a:spcBef>
                <a:spcPts val="100"/>
              </a:spcBef>
              <a:defRPr sz="850">
                <a:solidFill>
                  <a:srgbClr val="334155"/>
                </a:solidFill>
                <a:latin typeface="Segoe UI"/>
              </a:defRPr>
            </a:pPr>
            <a:r>
              <a:t>Data visualization &amp; SVG icons.</a:t>
            </a:r>
          </a:p>
        </p:txBody>
      </p:sp>
      <p:sp>
        <p:nvSpPr>
          <p:cNvPr id="12" name="Rounded Rectangle 11"/>
          <p:cNvSpPr/>
          <p:nvPr/>
        </p:nvSpPr>
        <p:spPr>
          <a:xfrm>
            <a:off x="3456432" y="1417320"/>
            <a:ext cx="2560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417320"/>
            <a:ext cx="256032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21024" y="1600200"/>
            <a:ext cx="2231136" cy="347472"/>
          </a:xfrm>
          <a:prstGeom prst="roundRect">
            <a:avLst/>
          </a:prstGeom>
          <a:solidFill>
            <a:srgbClr val="F1F5F9"/>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5B21B6"/>
                </a:solidFill>
                <a:latin typeface="Segoe UI"/>
              </a:defRPr>
            </a:pPr>
            <a:r>
              <a:t>2. BACKEND &amp; AGENT</a:t>
            </a:r>
          </a:p>
        </p:txBody>
      </p:sp>
      <p:sp>
        <p:nvSpPr>
          <p:cNvPr id="15" name="TextBox 14"/>
          <p:cNvSpPr txBox="1"/>
          <p:nvPr/>
        </p:nvSpPr>
        <p:spPr>
          <a:xfrm>
            <a:off x="3621024" y="2103120"/>
            <a:ext cx="2231136" cy="3931920"/>
          </a:xfrm>
          <a:prstGeom prst="rect">
            <a:avLst/>
          </a:prstGeom>
          <a:noFill/>
        </p:spPr>
        <p:txBody>
          <a:bodyPr wrap="square">
            <a:spAutoFit/>
          </a:bodyPr>
          <a:lstStyle/>
          <a:p/>
          <a:p>
            <a:pPr>
              <a:spcBef>
                <a:spcPts val="800"/>
              </a:spcBef>
              <a:defRPr sz="1000" b="1">
                <a:solidFill>
                  <a:srgbClr val="1E293B"/>
                </a:solidFill>
                <a:latin typeface="Segoe UI"/>
              </a:defRPr>
            </a:pPr>
            <a:r>
              <a:t>✔ FastAPI &amp; NestJS</a:t>
            </a:r>
          </a:p>
          <a:p>
            <a:pPr>
              <a:spcBef>
                <a:spcPts val="100"/>
              </a:spcBef>
              <a:defRPr sz="850">
                <a:solidFill>
                  <a:srgbClr val="334155"/>
                </a:solidFill>
                <a:latin typeface="Segoe UI"/>
              </a:defRPr>
            </a:pPr>
            <a:r>
              <a:t>Async microservices &amp; validation.</a:t>
            </a:r>
          </a:p>
          <a:p>
            <a:pPr>
              <a:spcBef>
                <a:spcPts val="800"/>
              </a:spcBef>
              <a:defRPr sz="1000" b="1">
                <a:solidFill>
                  <a:srgbClr val="1E293B"/>
                </a:solidFill>
                <a:latin typeface="Segoe UI"/>
              </a:defRPr>
            </a:pPr>
            <a:r>
              <a:t>✔ LangGraph Core</a:t>
            </a:r>
          </a:p>
          <a:p>
            <a:pPr>
              <a:spcBef>
                <a:spcPts val="100"/>
              </a:spcBef>
              <a:defRPr sz="850">
                <a:solidFill>
                  <a:srgbClr val="334155"/>
                </a:solidFill>
                <a:latin typeface="Segoe UI"/>
              </a:defRPr>
            </a:pPr>
            <a:r>
              <a:t>Deterministic state machines.</a:t>
            </a:r>
          </a:p>
          <a:p>
            <a:pPr>
              <a:spcBef>
                <a:spcPts val="800"/>
              </a:spcBef>
              <a:defRPr sz="1000" b="1">
                <a:solidFill>
                  <a:srgbClr val="1E293B"/>
                </a:solidFill>
                <a:latin typeface="Segoe UI"/>
              </a:defRPr>
            </a:pPr>
            <a:r>
              <a:t>✔ sqlglot AST</a:t>
            </a:r>
          </a:p>
          <a:p>
            <a:pPr>
              <a:spcBef>
                <a:spcPts val="100"/>
              </a:spcBef>
              <a:defRPr sz="850">
                <a:solidFill>
                  <a:srgbClr val="334155"/>
                </a:solidFill>
                <a:latin typeface="Segoe UI"/>
              </a:defRPr>
            </a:pPr>
            <a:r>
              <a:t>Abstract Syntax Tree security.</a:t>
            </a:r>
          </a:p>
          <a:p>
            <a:pPr>
              <a:spcBef>
                <a:spcPts val="800"/>
              </a:spcBef>
              <a:defRPr sz="1000" b="1">
                <a:solidFill>
                  <a:srgbClr val="1E293B"/>
                </a:solidFill>
                <a:latin typeface="Segoe UI"/>
              </a:defRPr>
            </a:pPr>
            <a:r>
              <a:t>✔ PromptGuard</a:t>
            </a:r>
          </a:p>
          <a:p>
            <a:pPr>
              <a:spcBef>
                <a:spcPts val="100"/>
              </a:spcBef>
              <a:defRPr sz="850">
                <a:solidFill>
                  <a:srgbClr val="334155"/>
                </a:solidFill>
                <a:latin typeface="Segoe UI"/>
              </a:defRPr>
            </a:pPr>
            <a:r>
              <a:t>Adversarial injection defense.</a:t>
            </a:r>
          </a:p>
        </p:txBody>
      </p:sp>
      <p:sp>
        <p:nvSpPr>
          <p:cNvPr id="16" name="Rounded Rectangle 15"/>
          <p:cNvSpPr/>
          <p:nvPr/>
        </p:nvSpPr>
        <p:spPr>
          <a:xfrm>
            <a:off x="6181344" y="1417320"/>
            <a:ext cx="2560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1344" y="1417320"/>
            <a:ext cx="256032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5936" y="1600200"/>
            <a:ext cx="2231136" cy="347472"/>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65F46"/>
                </a:solidFill>
                <a:latin typeface="Segoe UI"/>
              </a:defRPr>
            </a:pPr>
            <a:r>
              <a:t>3. MLOPS ENGINE</a:t>
            </a:r>
          </a:p>
        </p:txBody>
      </p:sp>
      <p:sp>
        <p:nvSpPr>
          <p:cNvPr id="19" name="TextBox 18"/>
          <p:cNvSpPr txBox="1"/>
          <p:nvPr/>
        </p:nvSpPr>
        <p:spPr>
          <a:xfrm>
            <a:off x="6345936" y="2103120"/>
            <a:ext cx="2231136" cy="3931920"/>
          </a:xfrm>
          <a:prstGeom prst="rect">
            <a:avLst/>
          </a:prstGeom>
          <a:noFill/>
        </p:spPr>
        <p:txBody>
          <a:bodyPr wrap="square">
            <a:spAutoFit/>
          </a:bodyPr>
          <a:lstStyle/>
          <a:p/>
          <a:p>
            <a:pPr>
              <a:spcBef>
                <a:spcPts val="800"/>
              </a:spcBef>
              <a:defRPr sz="1000" b="1">
                <a:solidFill>
                  <a:srgbClr val="1E293B"/>
                </a:solidFill>
                <a:latin typeface="Segoe UI"/>
              </a:defRPr>
            </a:pPr>
            <a:r>
              <a:t>✔ LightGBM Regressors</a:t>
            </a:r>
          </a:p>
          <a:p>
            <a:pPr>
              <a:spcBef>
                <a:spcPts val="100"/>
              </a:spcBef>
              <a:defRPr sz="850">
                <a:solidFill>
                  <a:srgbClr val="334155"/>
                </a:solidFill>
                <a:latin typeface="Segoe UI"/>
              </a:defRPr>
            </a:pPr>
            <a:r>
              <a:t>Fast quantile gradient boosting.</a:t>
            </a:r>
          </a:p>
          <a:p>
            <a:pPr>
              <a:spcBef>
                <a:spcPts val="800"/>
              </a:spcBef>
              <a:defRPr sz="1000" b="1">
                <a:solidFill>
                  <a:srgbClr val="1E293B"/>
                </a:solidFill>
                <a:latin typeface="Segoe UI"/>
              </a:defRPr>
            </a:pPr>
            <a:r>
              <a:t>✔ SHAP TreeExplainer</a:t>
            </a:r>
          </a:p>
          <a:p>
            <a:pPr>
              <a:spcBef>
                <a:spcPts val="100"/>
              </a:spcBef>
              <a:defRPr sz="850">
                <a:solidFill>
                  <a:srgbClr val="334155"/>
                </a:solidFill>
                <a:latin typeface="Segoe UI"/>
              </a:defRPr>
            </a:pPr>
            <a:r>
              <a:t>Feature impact attribution.</a:t>
            </a:r>
          </a:p>
          <a:p>
            <a:pPr>
              <a:spcBef>
                <a:spcPts val="800"/>
              </a:spcBef>
              <a:defRPr sz="1000" b="1">
                <a:solidFill>
                  <a:srgbClr val="1E293B"/>
                </a:solidFill>
                <a:latin typeface="Segoe UI"/>
              </a:defRPr>
            </a:pPr>
            <a:r>
              <a:t>✔ Scikit-Learn</a:t>
            </a:r>
          </a:p>
          <a:p>
            <a:pPr>
              <a:spcBef>
                <a:spcPts val="100"/>
              </a:spcBef>
              <a:defRPr sz="850">
                <a:solidFill>
                  <a:srgbClr val="334155"/>
                </a:solidFill>
                <a:latin typeface="Segoe UI"/>
              </a:defRPr>
            </a:pPr>
            <a:r>
              <a:t>Log-RFM K-Means clustering.</a:t>
            </a:r>
          </a:p>
          <a:p>
            <a:pPr>
              <a:spcBef>
                <a:spcPts val="800"/>
              </a:spcBef>
              <a:defRPr sz="1000" b="1">
                <a:solidFill>
                  <a:srgbClr val="1E293B"/>
                </a:solidFill>
                <a:latin typeface="Segoe UI"/>
              </a:defRPr>
            </a:pPr>
            <a:r>
              <a:t>✔ MLflow &amp; MinIO</a:t>
            </a:r>
          </a:p>
          <a:p>
            <a:pPr>
              <a:spcBef>
                <a:spcPts val="100"/>
              </a:spcBef>
              <a:defRPr sz="850">
                <a:solidFill>
                  <a:srgbClr val="334155"/>
                </a:solidFill>
                <a:latin typeface="Segoe UI"/>
              </a:defRPr>
            </a:pPr>
            <a:r>
              <a:t>Model registry &amp; artifact tracking.</a:t>
            </a:r>
          </a:p>
        </p:txBody>
      </p:sp>
      <p:sp>
        <p:nvSpPr>
          <p:cNvPr id="20" name="Rounded Rectangle 19"/>
          <p:cNvSpPr/>
          <p:nvPr/>
        </p:nvSpPr>
        <p:spPr>
          <a:xfrm>
            <a:off x="8906256" y="1417320"/>
            <a:ext cx="2560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06256" y="1417320"/>
            <a:ext cx="25603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70848" y="1600200"/>
            <a:ext cx="2231136" cy="347472"/>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92400E"/>
                </a:solidFill>
                <a:latin typeface="Segoe UI"/>
              </a:defRPr>
            </a:pPr>
            <a:r>
              <a:t>4. DATA &amp; EDGE AI</a:t>
            </a:r>
          </a:p>
        </p:txBody>
      </p:sp>
      <p:sp>
        <p:nvSpPr>
          <p:cNvPr id="23" name="TextBox 22"/>
          <p:cNvSpPr txBox="1"/>
          <p:nvPr/>
        </p:nvSpPr>
        <p:spPr>
          <a:xfrm>
            <a:off x="9070848" y="2103120"/>
            <a:ext cx="2231136" cy="3931920"/>
          </a:xfrm>
          <a:prstGeom prst="rect">
            <a:avLst/>
          </a:prstGeom>
          <a:noFill/>
        </p:spPr>
        <p:txBody>
          <a:bodyPr wrap="square">
            <a:spAutoFit/>
          </a:bodyPr>
          <a:lstStyle/>
          <a:p/>
          <a:p>
            <a:pPr>
              <a:spcBef>
                <a:spcPts val="800"/>
              </a:spcBef>
              <a:defRPr sz="1000" b="1">
                <a:solidFill>
                  <a:srgbClr val="1E293B"/>
                </a:solidFill>
                <a:latin typeface="Segoe UI"/>
              </a:defRPr>
            </a:pPr>
            <a:r>
              <a:t>✔ PostgreSQL 16 RLS</a:t>
            </a:r>
          </a:p>
          <a:p>
            <a:pPr>
              <a:spcBef>
                <a:spcPts val="100"/>
              </a:spcBef>
              <a:defRPr sz="850">
                <a:solidFill>
                  <a:srgbClr val="334155"/>
                </a:solidFill>
                <a:latin typeface="Segoe UI"/>
              </a:defRPr>
            </a:pPr>
            <a:r>
              <a:t>Kernel session tenant isolation.</a:t>
            </a:r>
          </a:p>
          <a:p>
            <a:pPr>
              <a:spcBef>
                <a:spcPts val="800"/>
              </a:spcBef>
              <a:defRPr sz="1000" b="1">
                <a:solidFill>
                  <a:srgbClr val="1E293B"/>
                </a:solidFill>
                <a:latin typeface="Segoe UI"/>
              </a:defRPr>
            </a:pPr>
            <a:r>
              <a:t>✔ Redis 7 In-Memory</a:t>
            </a:r>
          </a:p>
          <a:p>
            <a:pPr>
              <a:spcBef>
                <a:spcPts val="100"/>
              </a:spcBef>
              <a:defRPr sz="850">
                <a:solidFill>
                  <a:srgbClr val="334155"/>
                </a:solidFill>
                <a:latin typeface="Segoe UI"/>
              </a:defRPr>
            </a:pPr>
            <a:r>
              <a:t>Sub-millisecond query caching.</a:t>
            </a:r>
          </a:p>
          <a:p>
            <a:pPr>
              <a:spcBef>
                <a:spcPts val="800"/>
              </a:spcBef>
              <a:defRPr sz="1000" b="1">
                <a:solidFill>
                  <a:srgbClr val="1E293B"/>
                </a:solidFill>
                <a:latin typeface="Segoe UI"/>
              </a:defRPr>
            </a:pPr>
            <a:r>
              <a:t>✔ Meilisearch</a:t>
            </a:r>
          </a:p>
          <a:p>
            <a:pPr>
              <a:spcBef>
                <a:spcPts val="100"/>
              </a:spcBef>
              <a:defRPr sz="850">
                <a:solidFill>
                  <a:srgbClr val="334155"/>
                </a:solidFill>
                <a:latin typeface="Segoe UI"/>
              </a:defRPr>
            </a:pPr>
            <a:r>
              <a:t>Typo-tolerant Arabic search.</a:t>
            </a:r>
          </a:p>
          <a:p>
            <a:pPr>
              <a:spcBef>
                <a:spcPts val="800"/>
              </a:spcBef>
              <a:defRPr sz="1000" b="1">
                <a:solidFill>
                  <a:srgbClr val="1E293B"/>
                </a:solidFill>
                <a:latin typeface="Segoe UI"/>
              </a:defRPr>
            </a:pPr>
            <a:r>
              <a:t>✔ Qwen2.5 4-Bit GGUF</a:t>
            </a:r>
          </a:p>
          <a:p>
            <a:pPr>
              <a:spcBef>
                <a:spcPts val="100"/>
              </a:spcBef>
              <a:defRPr sz="850">
                <a:solidFill>
                  <a:srgbClr val="334155"/>
                </a:solidFill>
                <a:latin typeface="Segoe UI"/>
              </a:defRPr>
            </a:pPr>
            <a:r>
              <a:t>Air-gapped edge inference.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D1FAE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65F46"/>
                </a:solidFill>
                <a:latin typeface="Segoe UI"/>
              </a:defRPr>
            </a:pPr>
            <a:r>
              <a:t>●  5. AIR-GAPPED &amp; EDGE AI</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Offline &amp; Edge AI: Quantized GGUF Model Runtime</a:t>
            </a:r>
          </a:p>
          <a:p>
            <a:pPr>
              <a:defRPr sz="1050">
                <a:solidFill>
                  <a:srgbClr val="64748B"/>
                </a:solidFill>
                <a:latin typeface="Segoe UI"/>
              </a:defRPr>
            </a:pPr>
            <a:r>
              <a:t>Zero-cloud, zero-API, completely private local execution on consumer hardware</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13 of 16</a:t>
            </a:r>
          </a:p>
        </p:txBody>
      </p:sp>
      <p:sp>
        <p:nvSpPr>
          <p:cNvPr id="8" name="Rounded Rectangle 7"/>
          <p:cNvSpPr/>
          <p:nvPr/>
        </p:nvSpPr>
        <p:spPr>
          <a:xfrm>
            <a:off x="731520" y="1417320"/>
            <a:ext cx="41148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411480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3749039" cy="4389120"/>
          </a:xfrm>
          <a:prstGeom prst="rect">
            <a:avLst/>
          </a:prstGeom>
          <a:noFill/>
        </p:spPr>
        <p:txBody>
          <a:bodyPr wrap="square">
            <a:spAutoFit/>
          </a:bodyPr>
          <a:lstStyle/>
          <a:p>
            <a:pPr>
              <a:defRPr sz="1300" b="1">
                <a:solidFill>
                  <a:srgbClr val="065F46"/>
                </a:solidFill>
                <a:latin typeface="Segoe UI"/>
              </a:defRPr>
            </a:pPr>
            <a:r>
              <a:t>Fine-Tuned Qwen2.5-Coder-3B</a:t>
            </a:r>
          </a:p>
          <a:p>
            <a:pPr>
              <a:spcBef>
                <a:spcPts val="800"/>
              </a:spcBef>
              <a:defRPr sz="1000" b="1">
                <a:solidFill>
                  <a:srgbClr val="1E293B"/>
                </a:solidFill>
                <a:latin typeface="Segoe UI"/>
              </a:defRPr>
            </a:pPr>
            <a:r>
              <a:t>✔ QLoRA Dialect Fine-Tuning</a:t>
            </a:r>
          </a:p>
          <a:p>
            <a:pPr>
              <a:spcBef>
                <a:spcPts val="100"/>
              </a:spcBef>
              <a:defRPr sz="850">
                <a:solidFill>
                  <a:srgbClr val="334155"/>
                </a:solidFill>
                <a:latin typeface="Segoe UI"/>
              </a:defRPr>
            </a:pPr>
            <a:r>
              <a:t>Base model fine-tuned on custom Egyptian retail instructions and SQL schemas.</a:t>
            </a:r>
          </a:p>
          <a:p>
            <a:pPr>
              <a:spcBef>
                <a:spcPts val="800"/>
              </a:spcBef>
              <a:defRPr sz="1000" b="1">
                <a:solidFill>
                  <a:srgbClr val="1E293B"/>
                </a:solidFill>
                <a:latin typeface="Segoe UI"/>
              </a:defRPr>
            </a:pPr>
            <a:r>
              <a:t>✔ 4-Bit K-Quantization (Q4_K_M)</a:t>
            </a:r>
          </a:p>
          <a:p>
            <a:pPr>
              <a:spcBef>
                <a:spcPts val="100"/>
              </a:spcBef>
              <a:defRPr sz="850">
                <a:solidFill>
                  <a:srgbClr val="334155"/>
                </a:solidFill>
                <a:latin typeface="Segoe UI"/>
              </a:defRPr>
            </a:pPr>
            <a:r>
              <a:t>Converted via llama.cpp, preserving 97.4% of full-precision accuracy.</a:t>
            </a:r>
          </a:p>
          <a:p>
            <a:pPr>
              <a:spcBef>
                <a:spcPts val="800"/>
              </a:spcBef>
              <a:defRPr sz="1000" b="1">
                <a:solidFill>
                  <a:srgbClr val="1E293B"/>
                </a:solidFill>
                <a:latin typeface="Segoe UI"/>
              </a:defRPr>
            </a:pPr>
            <a:r>
              <a:t>✔ Air-Gapped Privacy &amp; Security</a:t>
            </a:r>
          </a:p>
          <a:p>
            <a:pPr>
              <a:spcBef>
                <a:spcPts val="100"/>
              </a:spcBef>
              <a:defRPr sz="850">
                <a:solidFill>
                  <a:srgbClr val="334155"/>
                </a:solidFill>
                <a:latin typeface="Segoe UI"/>
              </a:defRPr>
            </a:pPr>
            <a:r>
              <a:t>Zero internet access needed; merchant financial data never leaves premises.</a:t>
            </a:r>
          </a:p>
          <a:p>
            <a:pPr>
              <a:spcBef>
                <a:spcPts val="800"/>
              </a:spcBef>
              <a:defRPr sz="1000" b="1">
                <a:solidFill>
                  <a:srgbClr val="1E293B"/>
                </a:solidFill>
                <a:latin typeface="Segoe UI"/>
              </a:defRPr>
            </a:pPr>
            <a:r>
              <a:t>✔ Zero API Recurring Cost</a:t>
            </a:r>
          </a:p>
          <a:p>
            <a:pPr>
              <a:spcBef>
                <a:spcPts val="100"/>
              </a:spcBef>
              <a:defRPr sz="850">
                <a:solidFill>
                  <a:srgbClr val="334155"/>
                </a:solidFill>
                <a:latin typeface="Segoe UI"/>
              </a:defRPr>
            </a:pPr>
            <a:r>
              <a:t>Eliminates per-token cloud costs, ensuring viability for Egyptian SMEs.</a:t>
            </a:r>
          </a:p>
        </p:txBody>
      </p:sp>
      <p:sp>
        <p:nvSpPr>
          <p:cNvPr id="11" name="Rounded Rectangle 10"/>
          <p:cNvSpPr/>
          <p:nvPr/>
        </p:nvSpPr>
        <p:spPr>
          <a:xfrm>
            <a:off x="5029200" y="1417320"/>
            <a:ext cx="643097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_hardware_bench.png"/>
          <p:cNvPicPr>
            <a:picLocks noChangeAspect="1"/>
          </p:cNvPicPr>
          <p:nvPr/>
        </p:nvPicPr>
        <p:blipFill>
          <a:blip r:embed="rId3"/>
          <a:stretch>
            <a:fillRect/>
          </a:stretch>
        </p:blipFill>
        <p:spPr>
          <a:xfrm>
            <a:off x="5120640" y="1600200"/>
            <a:ext cx="6248095" cy="246040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D1FAE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65F46"/>
                </a:solidFill>
                <a:latin typeface="Segoe UI"/>
              </a:defRPr>
            </a:pPr>
            <a:r>
              <a:t>●  5. RIGOROUS EVALUATION &amp; QA</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Experimental Evaluation &amp; Academic Benchmarks</a:t>
            </a:r>
          </a:p>
          <a:p>
            <a:pPr>
              <a:defRPr sz="1050">
                <a:solidFill>
                  <a:srgbClr val="64748B"/>
                </a:solidFill>
                <a:latin typeface="Segoe UI"/>
              </a:defRPr>
            </a:pPr>
            <a:r>
              <a:t>Empirical validation across a 100-prompt academic benchmark, unit suites, and latency tests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14 of 16</a:t>
            </a:r>
          </a:p>
        </p:txBody>
      </p:sp>
      <p:sp>
        <p:nvSpPr>
          <p:cNvPr id="8" name="Rounded Rectangle 7"/>
          <p:cNvSpPr/>
          <p:nvPr/>
        </p:nvSpPr>
        <p:spPr>
          <a:xfrm>
            <a:off x="731520" y="1417320"/>
            <a:ext cx="256032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25603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2286000" cy="1097280"/>
          </a:xfrm>
          <a:prstGeom prst="rect">
            <a:avLst/>
          </a:prstGeom>
          <a:noFill/>
        </p:spPr>
        <p:txBody>
          <a:bodyPr wrap="square">
            <a:spAutoFit/>
          </a:bodyPr>
          <a:lstStyle/>
          <a:p>
            <a:pPr algn="ctr">
              <a:defRPr sz="2400" b="1">
                <a:solidFill>
                  <a:srgbClr val="0369A1"/>
                </a:solidFill>
                <a:latin typeface="Segoe UI"/>
              </a:defRPr>
            </a:pPr>
            <a:r>
              <a:t>98.0%</a:t>
            </a:r>
          </a:p>
          <a:p>
            <a:pPr algn="ctr">
              <a:defRPr sz="950" b="1">
                <a:solidFill>
                  <a:srgbClr val="1E293B"/>
                </a:solidFill>
                <a:latin typeface="Segoe UI"/>
              </a:defRPr>
            </a:pPr>
            <a:r>
              <a:t>Tool Selection F1-Score</a:t>
            </a:r>
          </a:p>
          <a:p>
            <a:pPr algn="ctr">
              <a:defRPr sz="800">
                <a:solidFill>
                  <a:srgbClr val="64748B"/>
                </a:solidFill>
                <a:latin typeface="Segoe UI"/>
              </a:defRPr>
            </a:pPr>
            <a:r>
              <a:t>10 functional domain intent routes</a:t>
            </a:r>
          </a:p>
        </p:txBody>
      </p:sp>
      <p:sp>
        <p:nvSpPr>
          <p:cNvPr id="11" name="Rounded Rectangle 10"/>
          <p:cNvSpPr/>
          <p:nvPr/>
        </p:nvSpPr>
        <p:spPr>
          <a:xfrm>
            <a:off x="3456432" y="1417320"/>
            <a:ext cx="256032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56432" y="1417320"/>
            <a:ext cx="256032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508760"/>
            <a:ext cx="2286000" cy="1097280"/>
          </a:xfrm>
          <a:prstGeom prst="rect">
            <a:avLst/>
          </a:prstGeom>
          <a:noFill/>
        </p:spPr>
        <p:txBody>
          <a:bodyPr wrap="square">
            <a:spAutoFit/>
          </a:bodyPr>
          <a:lstStyle/>
          <a:p>
            <a:pPr algn="ctr">
              <a:defRPr sz="2400" b="1">
                <a:solidFill>
                  <a:srgbClr val="5B21B6"/>
                </a:solidFill>
                <a:latin typeface="Segoe UI"/>
              </a:defRPr>
            </a:pPr>
            <a:r>
              <a:t>92.4%</a:t>
            </a:r>
          </a:p>
          <a:p>
            <a:pPr algn="ctr">
              <a:defRPr sz="950" b="1">
                <a:solidFill>
                  <a:srgbClr val="1E293B"/>
                </a:solidFill>
                <a:latin typeface="Segoe UI"/>
              </a:defRPr>
            </a:pPr>
            <a:r>
              <a:t>SQL Execution (EX)</a:t>
            </a:r>
          </a:p>
          <a:p>
            <a:pPr algn="ctr">
              <a:defRPr sz="800">
                <a:solidFill>
                  <a:srgbClr val="64748B"/>
                </a:solidFill>
                <a:latin typeface="Segoe UI"/>
              </a:defRPr>
            </a:pPr>
            <a:r>
              <a:t>Identical result set to ground truth</a:t>
            </a:r>
          </a:p>
        </p:txBody>
      </p:sp>
      <p:sp>
        <p:nvSpPr>
          <p:cNvPr id="14" name="Rounded Rectangle 13"/>
          <p:cNvSpPr/>
          <p:nvPr/>
        </p:nvSpPr>
        <p:spPr>
          <a:xfrm>
            <a:off x="6181344" y="1417320"/>
            <a:ext cx="256032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81344" y="1417320"/>
            <a:ext cx="256032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1508760"/>
            <a:ext cx="2286000" cy="1097280"/>
          </a:xfrm>
          <a:prstGeom prst="rect">
            <a:avLst/>
          </a:prstGeom>
          <a:noFill/>
        </p:spPr>
        <p:txBody>
          <a:bodyPr wrap="square">
            <a:spAutoFit/>
          </a:bodyPr>
          <a:lstStyle/>
          <a:p>
            <a:pPr algn="ctr">
              <a:defRPr sz="2400" b="1">
                <a:solidFill>
                  <a:srgbClr val="065F46"/>
                </a:solidFill>
                <a:latin typeface="Segoe UI"/>
              </a:defRPr>
            </a:pPr>
            <a:r>
              <a:t>99.2%</a:t>
            </a:r>
          </a:p>
          <a:p>
            <a:pPr algn="ctr">
              <a:defRPr sz="950" b="1">
                <a:solidFill>
                  <a:srgbClr val="1E293B"/>
                </a:solidFill>
                <a:latin typeface="Segoe UI"/>
              </a:defRPr>
            </a:pPr>
            <a:r>
              <a:t>Valid SQL Rate (VSR)</a:t>
            </a:r>
          </a:p>
          <a:p>
            <a:pPr algn="ctr">
              <a:defRPr sz="800">
                <a:solidFill>
                  <a:srgbClr val="64748B"/>
                </a:solidFill>
                <a:latin typeface="Segoe UI"/>
              </a:defRPr>
            </a:pPr>
            <a:r>
              <a:t>Queries parsing without syntax break</a:t>
            </a:r>
          </a:p>
        </p:txBody>
      </p:sp>
      <p:sp>
        <p:nvSpPr>
          <p:cNvPr id="17" name="Rounded Rectangle 16"/>
          <p:cNvSpPr/>
          <p:nvPr/>
        </p:nvSpPr>
        <p:spPr>
          <a:xfrm>
            <a:off x="8906256" y="1417320"/>
            <a:ext cx="256032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06256" y="1417320"/>
            <a:ext cx="2560320"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1508760"/>
            <a:ext cx="2286000" cy="1097280"/>
          </a:xfrm>
          <a:prstGeom prst="rect">
            <a:avLst/>
          </a:prstGeom>
          <a:noFill/>
        </p:spPr>
        <p:txBody>
          <a:bodyPr wrap="square">
            <a:spAutoFit/>
          </a:bodyPr>
          <a:lstStyle/>
          <a:p>
            <a:pPr algn="ctr">
              <a:defRPr sz="2400" b="1">
                <a:solidFill>
                  <a:srgbClr val="9F1239"/>
                </a:solidFill>
                <a:latin typeface="Segoe UI"/>
              </a:defRPr>
            </a:pPr>
            <a:r>
              <a:t>100.0%</a:t>
            </a:r>
          </a:p>
          <a:p>
            <a:pPr algn="ctr">
              <a:defRPr sz="950" b="1">
                <a:solidFill>
                  <a:srgbClr val="1E293B"/>
                </a:solidFill>
                <a:latin typeface="Segoe UI"/>
              </a:defRPr>
            </a:pPr>
            <a:r>
              <a:t>Security Block Rate</a:t>
            </a:r>
          </a:p>
          <a:p>
            <a:pPr algn="ctr">
              <a:defRPr sz="800">
                <a:solidFill>
                  <a:srgbClr val="64748B"/>
                </a:solidFill>
                <a:latin typeface="Segoe UI"/>
              </a:defRPr>
            </a:pPr>
            <a:r>
              <a:t>Zero injection or DDL bypasses</a:t>
            </a:r>
          </a:p>
        </p:txBody>
      </p:sp>
      <p:sp>
        <p:nvSpPr>
          <p:cNvPr id="20" name="Rounded Rectangle 19"/>
          <p:cNvSpPr/>
          <p:nvPr/>
        </p:nvSpPr>
        <p:spPr>
          <a:xfrm>
            <a:off x="731520" y="2788920"/>
            <a:ext cx="10728655"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rt_benchmarks.png"/>
          <p:cNvPicPr>
            <a:picLocks noChangeAspect="1"/>
          </p:cNvPicPr>
          <p:nvPr/>
        </p:nvPicPr>
        <p:blipFill>
          <a:blip r:embed="rId3"/>
          <a:stretch>
            <a:fillRect/>
          </a:stretch>
        </p:blipFill>
        <p:spPr>
          <a:xfrm>
            <a:off x="914400" y="2880360"/>
            <a:ext cx="10362895" cy="429865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6. FUTURE STRATEGY &amp; ROADMAP</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Section 6: Future Roadmap &amp; Research Extensions</a:t>
            </a:r>
          </a:p>
          <a:p>
            <a:pPr>
              <a:defRPr sz="1050">
                <a:solidFill>
                  <a:srgbClr val="64748B"/>
                </a:solidFill>
                <a:latin typeface="Segoe UI"/>
              </a:defRPr>
            </a:pPr>
            <a:r>
              <a:t>Scaling from conversational commerce to autonomous social agents and e-invoicing compliance</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15 of 16</a:t>
            </a:r>
          </a:p>
        </p:txBody>
      </p:sp>
      <p:sp>
        <p:nvSpPr>
          <p:cNvPr id="8" name="Rounded Rectangle 7"/>
          <p:cNvSpPr/>
          <p:nvPr/>
        </p:nvSpPr>
        <p:spPr>
          <a:xfrm>
            <a:off x="731520"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3456432"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3182112" cy="685800"/>
          </a:xfrm>
          <a:prstGeom prst="rect">
            <a:avLst/>
          </a:prstGeom>
          <a:noFill/>
        </p:spPr>
        <p:txBody>
          <a:bodyPr wrap="square">
            <a:spAutoFit/>
          </a:bodyPr>
          <a:lstStyle/>
          <a:p>
            <a:pPr>
              <a:defRPr sz="1050" b="1">
                <a:solidFill>
                  <a:srgbClr val="0369A1"/>
                </a:solidFill>
                <a:latin typeface="Segoe UI"/>
              </a:defRPr>
            </a:pPr>
            <a:r>
              <a:t>ETA E-Invoicing SDK</a:t>
            </a:r>
          </a:p>
          <a:p>
            <a:pPr>
              <a:defRPr sz="850">
                <a:solidFill>
                  <a:srgbClr val="64748B"/>
                </a:solidFill>
                <a:latin typeface="Segoe UI"/>
              </a:defRPr>
            </a:pPr>
            <a:r>
              <a:t>Automated cryptographic signing with Egyptian Tax Authority.</a:t>
            </a:r>
          </a:p>
        </p:txBody>
      </p:sp>
      <p:sp>
        <p:nvSpPr>
          <p:cNvPr id="11" name="Rounded Rectangle 10"/>
          <p:cNvSpPr/>
          <p:nvPr/>
        </p:nvSpPr>
        <p:spPr>
          <a:xfrm>
            <a:off x="4370832"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417320"/>
            <a:ext cx="3456432"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08760"/>
            <a:ext cx="3182112" cy="685800"/>
          </a:xfrm>
          <a:prstGeom prst="rect">
            <a:avLst/>
          </a:prstGeom>
          <a:noFill/>
        </p:spPr>
        <p:txBody>
          <a:bodyPr wrap="square">
            <a:spAutoFit/>
          </a:bodyPr>
          <a:lstStyle/>
          <a:p>
            <a:pPr>
              <a:defRPr sz="1050" b="1">
                <a:solidFill>
                  <a:srgbClr val="065F46"/>
                </a:solidFill>
                <a:latin typeface="Segoe UI"/>
              </a:defRPr>
            </a:pPr>
            <a:r>
              <a:t>Egyptian Voice AI (Whisper)</a:t>
            </a:r>
          </a:p>
          <a:p>
            <a:pPr>
              <a:defRPr sz="850">
                <a:solidFill>
                  <a:srgbClr val="64748B"/>
                </a:solidFill>
                <a:latin typeface="Segoe UI"/>
              </a:defRPr>
            </a:pPr>
            <a:r>
              <a:t>Fine-tuned ASR on regional Egyptian accents for hands-free commerce.</a:t>
            </a:r>
          </a:p>
        </p:txBody>
      </p:sp>
      <p:sp>
        <p:nvSpPr>
          <p:cNvPr id="14" name="Rounded Rectangle 13"/>
          <p:cNvSpPr/>
          <p:nvPr/>
        </p:nvSpPr>
        <p:spPr>
          <a:xfrm>
            <a:off x="8010144" y="1417320"/>
            <a:ext cx="3456432"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10144" y="1417320"/>
            <a:ext cx="3456432"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1508760"/>
            <a:ext cx="3182112" cy="685800"/>
          </a:xfrm>
          <a:prstGeom prst="rect">
            <a:avLst/>
          </a:prstGeom>
          <a:noFill/>
        </p:spPr>
        <p:txBody>
          <a:bodyPr wrap="square">
            <a:spAutoFit/>
          </a:bodyPr>
          <a:lstStyle/>
          <a:p>
            <a:pPr>
              <a:defRPr sz="1050" b="1">
                <a:solidFill>
                  <a:srgbClr val="5B21B6"/>
                </a:solidFill>
                <a:latin typeface="Segoe UI"/>
              </a:defRPr>
            </a:pPr>
            <a:r>
              <a:t>Autonomous Social Co-Pilot</a:t>
            </a:r>
          </a:p>
          <a:p>
            <a:pPr>
              <a:defRPr sz="850">
                <a:solidFill>
                  <a:srgbClr val="64748B"/>
                </a:solidFill>
                <a:latin typeface="Segoe UI"/>
              </a:defRPr>
            </a:pPr>
            <a:r>
              <a:t>Live order capturing and bidding on Instagram &amp; TikTok video streams.</a:t>
            </a:r>
          </a:p>
        </p:txBody>
      </p:sp>
      <p:sp>
        <p:nvSpPr>
          <p:cNvPr id="17" name="Rounded Rectangle 16"/>
          <p:cNvSpPr/>
          <p:nvPr/>
        </p:nvSpPr>
        <p:spPr>
          <a:xfrm>
            <a:off x="731520" y="2377440"/>
            <a:ext cx="10728655"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agram_roadmap_timeline.png"/>
          <p:cNvPicPr>
            <a:picLocks noChangeAspect="1"/>
          </p:cNvPicPr>
          <p:nvPr/>
        </p:nvPicPr>
        <p:blipFill>
          <a:blip r:embed="rId3"/>
          <a:stretch>
            <a:fillRect/>
          </a:stretch>
        </p:blipFill>
        <p:spPr>
          <a:xfrm>
            <a:off x="914400" y="2468880"/>
            <a:ext cx="10362895" cy="368821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058400" y="320040"/>
            <a:ext cx="1114112" cy="621792"/>
          </a:xfrm>
          <a:prstGeom prst="rect">
            <a:avLst/>
          </a:prstGeom>
        </p:spPr>
      </p:pic>
      <p:sp>
        <p:nvSpPr>
          <p:cNvPr id="4" name="Rounded Rectangle 3"/>
          <p:cNvSpPr/>
          <p:nvPr/>
        </p:nvSpPr>
        <p:spPr>
          <a:xfrm>
            <a:off x="731520" y="347472"/>
            <a:ext cx="320040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0369A1"/>
                </a:solidFill>
                <a:latin typeface="Segoe UI"/>
              </a:defRPr>
            </a:pPr>
            <a:r>
              <a:t>●  6. CONCLUSION &amp; TEAM OUTRO</a:t>
            </a:r>
          </a:p>
        </p:txBody>
      </p:sp>
      <p:sp>
        <p:nvSpPr>
          <p:cNvPr id="5" name="TextBox 4"/>
          <p:cNvSpPr txBox="1"/>
          <p:nvPr/>
        </p:nvSpPr>
        <p:spPr>
          <a:xfrm>
            <a:off x="731520" y="658368"/>
            <a:ext cx="9144000" cy="658368"/>
          </a:xfrm>
          <a:prstGeom prst="rect">
            <a:avLst/>
          </a:prstGeom>
          <a:noFill/>
        </p:spPr>
        <p:txBody>
          <a:bodyPr wrap="square" lIns="0" tIns="0" bIns="0" rIns="0">
            <a:spAutoFit/>
          </a:bodyPr>
          <a:lstStyle/>
          <a:p>
            <a:pPr>
              <a:defRPr sz="2100" b="1">
                <a:solidFill>
                  <a:srgbClr val="0F172A"/>
                </a:solidFill>
                <a:latin typeface="Segoe UI"/>
              </a:defRPr>
            </a:pPr>
            <a:r>
              <a:t>Conclusion: The Next Frontier of Intelligent Commerce</a:t>
            </a:r>
          </a:p>
          <a:p>
            <a:pPr>
              <a:defRPr sz="1050">
                <a:solidFill>
                  <a:srgbClr val="64748B"/>
                </a:solidFill>
                <a:latin typeface="Segoe UI"/>
              </a:defRPr>
            </a:pPr>
            <a:r>
              <a:t>Empowering Egyptian &amp; MENA merchants through autonomous data science and AI agents</a:t>
            </a:r>
          </a:p>
        </p:txBody>
      </p:sp>
      <p:sp>
        <p:nvSpPr>
          <p:cNvPr id="6" name="Rectangle 5"/>
          <p:cNvSpPr/>
          <p:nvPr/>
        </p:nvSpPr>
        <p:spPr>
          <a:xfrm>
            <a:off x="731520" y="63825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TalkShow Agentic E-Commerce Platform | Graduation Project 2026 — Data Science Department               Slide 16 of 16</a:t>
            </a:r>
          </a:p>
        </p:txBody>
      </p:sp>
      <p:sp>
        <p:nvSpPr>
          <p:cNvPr id="8" name="Rounded Rectangle 7"/>
          <p:cNvSpPr/>
          <p:nvPr/>
        </p:nvSpPr>
        <p:spPr>
          <a:xfrm>
            <a:off x="731520" y="1417320"/>
            <a:ext cx="50292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17320"/>
            <a:ext cx="502920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4663440" cy="4389120"/>
          </a:xfrm>
          <a:prstGeom prst="rect">
            <a:avLst/>
          </a:prstGeom>
          <a:noFill/>
        </p:spPr>
        <p:txBody>
          <a:bodyPr wrap="square">
            <a:spAutoFit/>
          </a:bodyPr>
          <a:lstStyle/>
          <a:p>
            <a:pPr>
              <a:defRPr sz="1400" b="1">
                <a:solidFill>
                  <a:srgbClr val="0369A1"/>
                </a:solidFill>
                <a:latin typeface="Segoe UI"/>
              </a:defRPr>
            </a:pPr>
            <a:r>
              <a:t>Key Project Achievements</a:t>
            </a:r>
          </a:p>
          <a:p>
            <a:pPr>
              <a:spcBef>
                <a:spcPts val="800"/>
              </a:spcBef>
              <a:defRPr sz="1000" b="1">
                <a:solidFill>
                  <a:srgbClr val="1E293B"/>
                </a:solidFill>
                <a:latin typeface="Segoe UI"/>
              </a:defRPr>
            </a:pPr>
            <a:r>
              <a:t>★ Full-Stack Monorepo</a:t>
            </a:r>
          </a:p>
          <a:p>
            <a:pPr>
              <a:spcBef>
                <a:spcPts val="100"/>
              </a:spcBef>
              <a:defRPr sz="850">
                <a:solidFill>
                  <a:srgbClr val="334155"/>
                </a:solidFill>
                <a:latin typeface="Segoe UI"/>
              </a:defRPr>
            </a:pPr>
            <a:r>
              <a:t>React 18 GenUI, FastAPI, LangGraph, and PostgreSQL 16 RLS.</a:t>
            </a:r>
          </a:p>
          <a:p>
            <a:pPr>
              <a:spcBef>
                <a:spcPts val="800"/>
              </a:spcBef>
              <a:defRPr sz="1000" b="1">
                <a:solidFill>
                  <a:srgbClr val="1E293B"/>
                </a:solidFill>
                <a:latin typeface="Segoe UI"/>
              </a:defRPr>
            </a:pPr>
            <a:r>
              <a:t>★ Deterministic HITL Safety</a:t>
            </a:r>
          </a:p>
          <a:p>
            <a:pPr>
              <a:spcBef>
                <a:spcPts val="100"/>
              </a:spcBef>
              <a:defRPr sz="850">
                <a:solidFill>
                  <a:srgbClr val="334155"/>
                </a:solidFill>
                <a:latin typeface="Segoe UI"/>
              </a:defRPr>
            </a:pPr>
            <a:r>
              <a:t>Pioneered dry-run preview cards eliminating financial risk.</a:t>
            </a:r>
          </a:p>
          <a:p>
            <a:pPr>
              <a:spcBef>
                <a:spcPts val="800"/>
              </a:spcBef>
              <a:defRPr sz="1000" b="1">
                <a:solidFill>
                  <a:srgbClr val="1E293B"/>
                </a:solidFill>
                <a:latin typeface="Segoe UI"/>
              </a:defRPr>
            </a:pPr>
            <a:r>
              <a:t>★ Conversational BI</a:t>
            </a:r>
          </a:p>
          <a:p>
            <a:pPr>
              <a:spcBef>
                <a:spcPts val="100"/>
              </a:spcBef>
              <a:defRPr sz="850">
                <a:solidFill>
                  <a:srgbClr val="334155"/>
                </a:solidFill>
                <a:latin typeface="Segoe UI"/>
              </a:defRPr>
            </a:pPr>
            <a:r>
              <a:t>AST-sandboxed Text-to-SQL engine across 71+ relational tables.</a:t>
            </a:r>
          </a:p>
          <a:p>
            <a:pPr>
              <a:spcBef>
                <a:spcPts val="800"/>
              </a:spcBef>
              <a:defRPr sz="1000" b="1">
                <a:solidFill>
                  <a:srgbClr val="1E293B"/>
                </a:solidFill>
                <a:latin typeface="Segoe UI"/>
              </a:defRPr>
            </a:pPr>
            <a:r>
              <a:t>★ Predictive MLOps</a:t>
            </a:r>
          </a:p>
          <a:p>
            <a:pPr>
              <a:spcBef>
                <a:spcPts val="100"/>
              </a:spcBef>
              <a:defRPr sz="850">
                <a:solidFill>
                  <a:srgbClr val="334155"/>
                </a:solidFill>
                <a:latin typeface="Segoe UI"/>
              </a:defRPr>
            </a:pPr>
            <a:r>
              <a:t>Quantile LightGBM models with 95% CI and SHAP explainability.</a:t>
            </a:r>
          </a:p>
          <a:p>
            <a:pPr>
              <a:spcBef>
                <a:spcPts val="800"/>
              </a:spcBef>
              <a:defRPr sz="1000" b="1">
                <a:solidFill>
                  <a:srgbClr val="1E293B"/>
                </a:solidFill>
                <a:latin typeface="Segoe UI"/>
              </a:defRPr>
            </a:pPr>
            <a:r>
              <a:t>★ Edge Air-Gapped AI</a:t>
            </a:r>
          </a:p>
          <a:p>
            <a:pPr>
              <a:spcBef>
                <a:spcPts val="100"/>
              </a:spcBef>
              <a:defRPr sz="850">
                <a:solidFill>
                  <a:srgbClr val="334155"/>
                </a:solidFill>
                <a:latin typeface="Segoe UI"/>
              </a:defRPr>
            </a:pPr>
            <a:r>
              <a:t>Runs locally on RTX 3050 (2.18 GB VRAM) with zero API costs.</a:t>
            </a:r>
          </a:p>
        </p:txBody>
      </p:sp>
      <p:sp>
        <p:nvSpPr>
          <p:cNvPr id="11" name="Rounded Rectangle 10"/>
          <p:cNvSpPr/>
          <p:nvPr/>
        </p:nvSpPr>
        <p:spPr>
          <a:xfrm>
            <a:off x="5943600" y="1417320"/>
            <a:ext cx="551657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0" y="1417320"/>
            <a:ext cx="5516575"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554480"/>
            <a:ext cx="5029200" cy="4389120"/>
          </a:xfrm>
          <a:prstGeom prst="rect">
            <a:avLst/>
          </a:prstGeom>
          <a:noFill/>
        </p:spPr>
        <p:txBody>
          <a:bodyPr wrap="square">
            <a:spAutoFit/>
          </a:bodyPr>
          <a:lstStyle/>
          <a:p>
            <a:pPr>
              <a:defRPr sz="1400" b="1">
                <a:solidFill>
                  <a:srgbClr val="065F46"/>
                </a:solidFill>
                <a:latin typeface="Segoe UI"/>
              </a:defRPr>
            </a:pPr>
            <a:r>
              <a:t>Data Science Graduation Team &amp; Q&amp;A</a:t>
            </a:r>
          </a:p>
          <a:p>
            <a:pPr>
              <a:spcBef>
                <a:spcPts val="600"/>
              </a:spcBef>
              <a:defRPr sz="1050" b="1">
                <a:solidFill>
                  <a:srgbClr val="1E293B"/>
                </a:solidFill>
                <a:latin typeface="Segoe UI"/>
              </a:defRPr>
            </a:pPr>
            <a:r>
              <a:t>فريق العمل (قسم علوم البيانات والذكاء الاصطناعي):</a:t>
            </a:r>
          </a:p>
          <a:p>
            <a:pPr>
              <a:spcBef>
                <a:spcPts val="300"/>
              </a:spcBef>
              <a:defRPr sz="850">
                <a:solidFill>
                  <a:srgbClr val="334155"/>
                </a:solidFill>
                <a:latin typeface="Segoe UI"/>
              </a:defRPr>
            </a:pPr>
            <a:r>
              <a:t>• مصطفى ماهر — قائد الفريق، معمارية الوكلاء الذكية وعزل المستأجرين</a:t>
            </a:r>
          </a:p>
          <a:p>
            <a:pPr>
              <a:spcBef>
                <a:spcPts val="300"/>
              </a:spcBef>
              <a:defRPr sz="850">
                <a:solidFill>
                  <a:srgbClr val="334155"/>
                </a:solidFill>
                <a:latin typeface="Segoe UI"/>
              </a:defRPr>
            </a:pPr>
            <a:r>
              <a:t>• عادل أحمد — تطوير الواجهات الأمامية وبطاقات Generative UI ومحرك الكتالوج</a:t>
            </a:r>
          </a:p>
          <a:p>
            <a:pPr>
              <a:spcBef>
                <a:spcPts val="300"/>
              </a:spcBef>
              <a:defRPr sz="850">
                <a:solidFill>
                  <a:srgbClr val="334155"/>
                </a:solidFill>
                <a:latin typeface="Segoe UI"/>
              </a:defRPr>
            </a:pPr>
            <a:r>
              <a:t>• عبد الله سامح — محرك Text-to-SQL وجدار الحماية AST واستعلامات الـ ERP</a:t>
            </a:r>
          </a:p>
          <a:p>
            <a:pPr>
              <a:spcBef>
                <a:spcPts val="300"/>
              </a:spcBef>
              <a:defRPr sz="850">
                <a:solidFill>
                  <a:srgbClr val="334155"/>
                </a:solidFill>
                <a:latin typeface="Segoe UI"/>
              </a:defRPr>
            </a:pPr>
            <a:r>
              <a:t>• ريتاج حكيم — هندسة الـ MLOps والتنبؤ بالطلب LightGBM وتفسيرات SHAP</a:t>
            </a:r>
          </a:p>
          <a:p>
            <a:pPr>
              <a:spcBef>
                <a:spcPts val="300"/>
              </a:spcBef>
              <a:defRPr sz="850">
                <a:solidFill>
                  <a:srgbClr val="334155"/>
                </a:solidFill>
                <a:latin typeface="Segoe UI"/>
              </a:defRPr>
            </a:pPr>
            <a:r>
              <a:t>• رناد حكيم — تجزئة العملاء Log-RFM والتكامل مع بوابات Paymob وشحن بوسطة</a:t>
            </a:r>
          </a:p>
          <a:p>
            <a:pPr>
              <a:spcBef>
                <a:spcPts val="300"/>
              </a:spcBef>
              <a:defRPr sz="850">
                <a:solidFill>
                  <a:srgbClr val="334155"/>
                </a:solidFill>
                <a:latin typeface="Segoe UI"/>
              </a:defRPr>
            </a:pPr>
            <a:r>
              <a:t>• رُؤى أشرف — إدارة الذاكرة ثلاثية المستويات ومركز القيادة وجدار الحماية</a:t>
            </a:r>
          </a:p>
        </p:txBody>
      </p:sp>
      <p:sp>
        <p:nvSpPr>
          <p:cNvPr id="14" name="Rounded Rectangle 13"/>
          <p:cNvSpPr/>
          <p:nvPr/>
        </p:nvSpPr>
        <p:spPr>
          <a:xfrm>
            <a:off x="6172200" y="5257800"/>
            <a:ext cx="5029200" cy="68580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369A1"/>
                </a:solidFill>
                <a:latin typeface="Segoe UI"/>
              </a:defRPr>
            </a:pPr>
            <a:r>
              <a:t>THANK YOU! QUESTIONS &amp; LIVE DEMO</a:t>
            </a:r>
          </a:p>
          <a:p>
            <a:pPr algn="ctr">
              <a:spcBef>
                <a:spcPts val="100"/>
              </a:spcBef>
              <a:defRPr sz="850">
                <a:solidFill>
                  <a:srgbClr val="1E293B"/>
                </a:solidFill>
                <a:latin typeface="Segoe UI"/>
              </a:defRPr>
            </a:pPr>
            <a:r>
              <a:t>Storefront: http://localhost:5173  |  FastAPI Docs: http://localhost:8001/docs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